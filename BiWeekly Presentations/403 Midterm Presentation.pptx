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9144000"/>
  <p:notesSz cx="6858000" cy="9144000"/>
  <p:embeddedFontLst>
    <p:embeddedFont>
      <p:font typeface="Roboto"/>
      <p:regular r:id="rId19"/>
      <p:bold r:id="rId20"/>
      <p:italic r:id="rId21"/>
      <p:boldItalic r:id="rId22"/>
    </p:embeddedFont>
    <p:embeddedFont>
      <p:font typeface="Helvetica Neue"/>
      <p:regular r:id="rId23"/>
      <p:bold r:id="rId24"/>
      <p:italic r:id="rId25"/>
      <p:boldItalic r:id="rId26"/>
    </p:embeddedFont>
    <p:embeddedFont>
      <p:font typeface="Roboto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jG//bmxHphAyTjEhV02/yaavIR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EB3828-E495-4C96-B313-28F9561C43D2}">
  <a:tblStyle styleId="{A3EB3828-E495-4C96-B313-28F9561C43D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ED9F478-334C-4CB3-97C4-F0FF5215E216}"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HelveticaNeue-bold.fntdata"/><Relationship Id="rId23" Type="http://schemas.openxmlformats.org/officeDocument/2006/relationships/font" Target="fonts/HelveticaNeue-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HelveticaNeue-boldItalic.fntdata"/><Relationship Id="rId25" Type="http://schemas.openxmlformats.org/officeDocument/2006/relationships/font" Target="fonts/HelveticaNeue-italic.fntdata"/><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Mono-italic.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Roboto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1pPr>
            <a:lvl2pPr indent="-298450" lvl="1" marL="9144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2pPr>
            <a:lvl3pPr indent="-298450" lvl="2" marL="13716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irinsoftware.com/blog/inside-risc-v-microarchitecture"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
        <p:nvSpPr>
          <p:cNvPr id="97" name="Google Shape;9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Cost: is the overarching factor, which includes time and money spent on VLSI </a:t>
            </a:r>
            <a:r>
              <a:rPr lang="en-US"/>
              <a:t>design</a:t>
            </a:r>
            <a:r>
              <a:rPr lang="en-US"/>
              <a:t> experts, </a:t>
            </a:r>
            <a:r>
              <a:rPr lang="en-US"/>
              <a:t>licensed</a:t>
            </a:r>
            <a:r>
              <a:rPr lang="en-US"/>
              <a:t> software tools, and setbacks caused by design flaws and optimization.</a:t>
            </a:r>
            <a:br>
              <a:rPr lang="en-US"/>
            </a:br>
            <a:r>
              <a:rPr lang="en-US"/>
              <a:t>OpenROAD: initiative created to democratize hardware design by </a:t>
            </a:r>
            <a:r>
              <a:rPr lang="en-US"/>
              <a:t>making</a:t>
            </a:r>
            <a:r>
              <a:rPr lang="en-US"/>
              <a:t> more accessible and </a:t>
            </a:r>
            <a:r>
              <a:rPr lang="en-US"/>
              <a:t>feasible</a:t>
            </a:r>
            <a:r>
              <a:rPr lang="en-US"/>
              <a:t>. (the problem our project looks to solve)</a:t>
            </a:r>
            <a:endParaRPr/>
          </a:p>
        </p:txBody>
      </p:sp>
      <p:sp>
        <p:nvSpPr>
          <p:cNvPr id="106" name="Google Shape;10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8e056677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8e05667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e2595d59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e2595d5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5a4af3b0d_0_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Cost: is the overarching factor, which includes time and money spent on VLSI design experts, licensed software tools, and setbacks caused by design flaws and optimization.</a:t>
            </a:r>
            <a:br>
              <a:rPr lang="en-US"/>
            </a:br>
            <a:r>
              <a:rPr lang="en-US"/>
              <a:t>OpenROAD: initiative created to democratize hardware design by making more accessible and feasible. (the problem our project looks to solve)</a:t>
            </a:r>
            <a:endParaRPr/>
          </a:p>
        </p:txBody>
      </p:sp>
      <p:sp>
        <p:nvSpPr>
          <p:cNvPr id="151" name="Google Shape;151;g3a5a4af3b0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26238830a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2"/>
              </a:rPr>
              <a:t>https://sirinsoftware.com/blog/inside-risc-v-microarchitecture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Talha</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US" sz="1000">
                <a:latin typeface="Helvetica Neue"/>
                <a:ea typeface="Helvetica Neue"/>
                <a:cs typeface="Helvetica Neue"/>
                <a:sym typeface="Helvetica Neue"/>
              </a:rPr>
              <a:t>Talk about Subsystems and how we will go through EACH component within 403 and then connect in 404. </a:t>
            </a:r>
            <a:endParaRPr sz="1000">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1100"/>
              <a:buFont typeface="Arial"/>
              <a:buNone/>
            </a:pPr>
            <a:r>
              <a:rPr lang="en-US" sz="1000">
                <a:latin typeface="Helvetica Neue"/>
                <a:ea typeface="Helvetica Neue"/>
                <a:cs typeface="Helvetica Neue"/>
                <a:sym typeface="Helvetica Neue"/>
              </a:rPr>
              <a:t>We plan on going from Verilog to OpenROAD for the big </a:t>
            </a:r>
            <a:r>
              <a:rPr lang="en-US" sz="1000">
                <a:latin typeface="Helvetica Neue"/>
                <a:ea typeface="Helvetica Neue"/>
                <a:cs typeface="Helvetica Neue"/>
                <a:sym typeface="Helvetica Neue"/>
              </a:rPr>
              <a:t>components</a:t>
            </a:r>
            <a:endParaRPr sz="1000">
              <a:latin typeface="Helvetica Neue"/>
              <a:ea typeface="Helvetica Neue"/>
              <a:cs typeface="Helvetica Neue"/>
              <a:sym typeface="Helvetica Neue"/>
            </a:endParaRPr>
          </a:p>
          <a:p>
            <a:pPr indent="0" lvl="0" marL="0" rtl="0" algn="l">
              <a:spcBef>
                <a:spcPts val="0"/>
              </a:spcBef>
              <a:spcAft>
                <a:spcPts val="0"/>
              </a:spcAft>
              <a:buNone/>
            </a:pPr>
            <a:r>
              <a:t/>
            </a:r>
            <a:endParaRPr/>
          </a:p>
        </p:txBody>
      </p:sp>
      <p:sp>
        <p:nvSpPr>
          <p:cNvPr id="174" name="Google Shape;174;g3826238830a_2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26238830a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826238830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tradeoff 1 is the cost </a:t>
            </a:r>
            <a:r>
              <a:rPr lang="en-US"/>
              <a:t>licensed</a:t>
            </a:r>
            <a:r>
              <a:rPr lang="en-US"/>
              <a:t> costs more so we are saving money </a:t>
            </a:r>
            <a:r>
              <a:rPr lang="en-US"/>
              <a:t>additionally</a:t>
            </a:r>
            <a:r>
              <a:rPr lang="en-US"/>
              <a:t> openroad saves us time. it is meant to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traeoff 2 single cycle allows for less power </a:t>
            </a:r>
            <a:r>
              <a:rPr lang="en-US"/>
              <a:t>consumption</a:t>
            </a:r>
            <a:r>
              <a:rPr lang="en-US"/>
              <a:t> and we also save additional space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Verilog was </a:t>
            </a:r>
            <a:r>
              <a:rPr lang="en-US"/>
              <a:t>chosen</a:t>
            </a:r>
            <a:r>
              <a:rPr lang="en-US"/>
              <a:t> for this design as it is heavily </a:t>
            </a:r>
            <a:r>
              <a:rPr lang="en-US"/>
              <a:t>supported</a:t>
            </a:r>
            <a:r>
              <a:rPr lang="en-US"/>
              <a:t> by openROAD.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what it does: decodes instruction, extract relevant bits to send to individual unit across the system</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SzPts val="1800"/>
              <a:buChar char="•"/>
            </a:pPr>
            <a:r>
              <a:rPr lang="en-US" sz="1800"/>
              <a:t>What does the subsystem do? </a:t>
            </a:r>
            <a:endParaRPr sz="3200"/>
          </a:p>
          <a:p>
            <a:pPr indent="-381000" lvl="0" marL="457200" rtl="0" algn="l">
              <a:spcBef>
                <a:spcPts val="0"/>
              </a:spcBef>
              <a:spcAft>
                <a:spcPts val="0"/>
              </a:spcAft>
              <a:buSzPts val="1800"/>
              <a:buChar char="•"/>
            </a:pPr>
            <a:r>
              <a:rPr lang="en-US" sz="1800"/>
              <a:t>How will it connect to and interact with other subsystems (from ICD)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What does the subsystem do?  </a:t>
            </a:r>
            <a:r>
              <a:rPr lang="en-US">
                <a:solidFill>
                  <a:srgbClr val="FF0000"/>
                </a:solidFill>
              </a:rPr>
              <a:t>This subsystem represents the portion of the chip responsible for storing and loading data from memory and writing data </a:t>
            </a:r>
            <a:r>
              <a:rPr lang="en-US">
                <a:solidFill>
                  <a:srgbClr val="FF0000"/>
                </a:solidFill>
              </a:rPr>
              <a:t>back into the register file.</a:t>
            </a:r>
            <a:endParaRPr>
              <a:solidFill>
                <a:srgbClr val="FF0000"/>
              </a:solidFill>
            </a:endParaRPr>
          </a:p>
          <a:p>
            <a:pPr indent="0" lvl="0" marL="0" rtl="0" algn="l">
              <a:spcBef>
                <a:spcPts val="0"/>
              </a:spcBef>
              <a:spcAft>
                <a:spcPts val="0"/>
              </a:spcAft>
              <a:buNone/>
            </a:pPr>
            <a:r>
              <a:t/>
            </a:r>
            <a:endParaRPr>
              <a:solidFill>
                <a:srgbClr val="FF0000"/>
              </a:solidFill>
            </a:endParaRPr>
          </a:p>
          <a:p>
            <a:pPr indent="0" lvl="0" marL="0" rtl="0" algn="l">
              <a:spcBef>
                <a:spcPts val="0"/>
              </a:spcBef>
              <a:spcAft>
                <a:spcPts val="0"/>
              </a:spcAft>
              <a:buNone/>
            </a:pPr>
            <a:r>
              <a:rPr lang="en-US"/>
              <a:t>How is it being designed? </a:t>
            </a:r>
            <a:r>
              <a:rPr lang="en-US">
                <a:solidFill>
                  <a:srgbClr val="FF0000"/>
                </a:solidFill>
              </a:rPr>
              <a:t>This subsystem is being designed using two main units: the data memory unit and the write back multiplexor. This data memory unit is comprised of an SRAM </a:t>
            </a:r>
            <a:r>
              <a:rPr lang="en-US">
                <a:solidFill>
                  <a:srgbClr val="FF0000"/>
                </a:solidFill>
              </a:rPr>
              <a:t>module and it stores and loads data for usage. The multiplexor to the right selects between ALU output or data read from memory and either writes the data back into the register file or discards it</a:t>
            </a:r>
            <a:endParaRPr>
              <a:solidFill>
                <a:srgbClr val="FF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US"/>
              <a:t>Key objectives, constraints, metrics (from FSR): </a:t>
            </a:r>
            <a:r>
              <a:rPr lang="en-US">
                <a:solidFill>
                  <a:srgbClr val="FF0000"/>
                </a:solidFill>
              </a:rPr>
              <a:t>The key objectives when designing this subsystem are to ensure that data is being wrote and read from memory properly for each </a:t>
            </a:r>
            <a:r>
              <a:rPr lang="en-US">
                <a:solidFill>
                  <a:srgbClr val="FF0000"/>
                </a:solidFill>
              </a:rPr>
              <a:t>instruction</a:t>
            </a:r>
            <a:r>
              <a:rPr lang="en-US">
                <a:solidFill>
                  <a:srgbClr val="FF0000"/>
                </a:solidFill>
              </a:rPr>
              <a:t> defined in our </a:t>
            </a:r>
            <a:r>
              <a:rPr lang="en-US">
                <a:solidFill>
                  <a:srgbClr val="FF0000"/>
                </a:solidFill>
              </a:rPr>
              <a:t>instruction</a:t>
            </a:r>
            <a:r>
              <a:rPr lang="en-US">
                <a:solidFill>
                  <a:srgbClr val="FF0000"/>
                </a:solidFill>
              </a:rPr>
              <a:t> set and that data that is being written back to the registers </a:t>
            </a:r>
            <a:r>
              <a:rPr lang="en-US">
                <a:solidFill>
                  <a:srgbClr val="FF0000"/>
                </a:solidFill>
              </a:rPr>
              <a:t>properly for future usage</a:t>
            </a:r>
            <a:r>
              <a:rPr lang="en-US">
                <a:solidFill>
                  <a:srgbClr val="FF0000"/>
                </a:solidFill>
              </a:rPr>
              <a:t>. Some constraints on this stage ____ . Some future considerations are how large we want our SRAM to be? ANALYZE THE TRADEOFFS</a:t>
            </a:r>
            <a:endParaRPr>
              <a:solidFill>
                <a:srgbClr val="FF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will it connect to and interact with other subsystems (from ICD): </a:t>
            </a:r>
            <a:r>
              <a:rPr lang="en-US">
                <a:solidFill>
                  <a:srgbClr val="FF0000"/>
                </a:solidFill>
              </a:rPr>
              <a:t>This subsystem will have several interactions with other subsystems: in the decode subsystem the </a:t>
            </a:r>
            <a:r>
              <a:rPr lang="en-US">
                <a:solidFill>
                  <a:srgbClr val="FF0000"/>
                </a:solidFill>
              </a:rPr>
              <a:t>control</a:t>
            </a:r>
            <a:r>
              <a:rPr lang="en-US">
                <a:solidFill>
                  <a:srgbClr val="FF0000"/>
                </a:solidFill>
              </a:rPr>
              <a:t> unit designates whether an </a:t>
            </a:r>
            <a:r>
              <a:rPr lang="en-US">
                <a:solidFill>
                  <a:srgbClr val="FF0000"/>
                </a:solidFill>
              </a:rPr>
              <a:t>instruction</a:t>
            </a:r>
            <a:r>
              <a:rPr lang="en-US">
                <a:solidFill>
                  <a:srgbClr val="FF0000"/>
                </a:solidFill>
              </a:rPr>
              <a:t> is able to write or read from memory by enabling/disabling mem_read or mem_write signals. Additionally there is a reg_write </a:t>
            </a:r>
            <a:r>
              <a:rPr lang="en-US">
                <a:solidFill>
                  <a:srgbClr val="FF0000"/>
                </a:solidFill>
              </a:rPr>
              <a:t>control</a:t>
            </a:r>
            <a:r>
              <a:rPr lang="en-US">
                <a:solidFill>
                  <a:srgbClr val="FF0000"/>
                </a:solidFill>
              </a:rPr>
              <a:t> signal that determines whether data is </a:t>
            </a:r>
            <a:r>
              <a:rPr lang="en-US">
                <a:solidFill>
                  <a:srgbClr val="FF0000"/>
                </a:solidFill>
              </a:rPr>
              <a:t>written</a:t>
            </a:r>
            <a:r>
              <a:rPr lang="en-US">
                <a:solidFill>
                  <a:srgbClr val="FF0000"/>
                </a:solidFill>
              </a:rPr>
              <a:t> back to a </a:t>
            </a:r>
            <a:r>
              <a:rPr lang="en-US">
                <a:solidFill>
                  <a:srgbClr val="FF0000"/>
                </a:solidFill>
              </a:rPr>
              <a:t>register</a:t>
            </a:r>
            <a:r>
              <a:rPr lang="en-US">
                <a:solidFill>
                  <a:srgbClr val="FF0000"/>
                </a:solidFill>
              </a:rPr>
              <a:t> or discarded. There is a mem_to_reg control signal on the mux to determine which output is chosen. These signals are applied to our SRAM to differentiate between memory read and write instructions and other types. The write back signal is applied to the register file and will determine whether the output of our mux is driven to the register or </a:t>
            </a:r>
            <a:r>
              <a:rPr lang="en-US">
                <a:solidFill>
                  <a:srgbClr val="FF0000"/>
                </a:solidFill>
              </a:rPr>
              <a:t>discarded</a:t>
            </a:r>
            <a:r>
              <a:rPr lang="en-US">
                <a:solidFill>
                  <a:srgbClr val="FF0000"/>
                </a:solidFill>
              </a:rPr>
              <a:t>. There is also interactions with the execution stage as the alu output is </a:t>
            </a:r>
            <a:r>
              <a:rPr lang="en-US">
                <a:solidFill>
                  <a:srgbClr val="FF0000"/>
                </a:solidFill>
              </a:rPr>
              <a:t>directly fed into the mux as this output is driven to the register file instead of memory data if the instruction does not access our memory (signals on SRAM are not enabled)</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US"/>
              <a:t>what it does </a:t>
            </a:r>
            <a:endParaRPr/>
          </a:p>
          <a:p>
            <a:pPr indent="-298450" lvl="0" marL="457200" rtl="0" algn="l">
              <a:spcBef>
                <a:spcPts val="0"/>
              </a:spcBef>
              <a:spcAft>
                <a:spcPts val="0"/>
              </a:spcAft>
              <a:buSzPts val="1100"/>
              <a:buAutoNum type="arabicPeriod"/>
            </a:pPr>
            <a:r>
              <a:rPr lang="en-US"/>
              <a:t>what its comprised of</a:t>
            </a:r>
            <a:endParaRPr/>
          </a:p>
          <a:p>
            <a:pPr indent="-298450" lvl="0" marL="457200" rtl="0" algn="l">
              <a:spcBef>
                <a:spcPts val="0"/>
              </a:spcBef>
              <a:spcAft>
                <a:spcPts val="0"/>
              </a:spcAft>
              <a:buSzPts val="1100"/>
              <a:buAutoNum type="arabicPeriod"/>
            </a:pPr>
            <a:r>
              <a:rPr lang="en-US"/>
              <a:t>key objectives and connections </a:t>
            </a:r>
            <a:endParaRPr/>
          </a:p>
          <a:p>
            <a:pPr indent="0" lvl="0" marL="0" rtl="0" algn="l">
              <a:spcBef>
                <a:spcPts val="0"/>
              </a:spcBef>
              <a:spcAft>
                <a:spcPts val="0"/>
              </a:spcAft>
              <a:buNone/>
            </a:pPr>
            <a:r>
              <a:rPr lang="en-US"/>
              <a:t>NOTE TO SELF NOT TO BE READ*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mem_read → tells the memory unit to read from the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mem_write → tells the memory unit to write to the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reg_write → tells the register file whether to perform a write in the WB step.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mem_to_reg used to select between memory output and ALU on the mux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These are binary flags (0/1), generated by the control unit after decoding the instruction.</a:t>
            </a:r>
            <a:endParaRPr/>
          </a:p>
          <a:p>
            <a:pPr indent="0" lvl="0" marL="0" rtl="0" algn="l">
              <a:spcBef>
                <a:spcPts val="0"/>
              </a:spcBef>
              <a:spcAft>
                <a:spcPts val="0"/>
              </a:spcAft>
              <a:buNone/>
            </a:pPr>
            <a:r>
              <a:t/>
            </a:r>
            <a:endParaRPr b="1">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b="1">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b="1">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a:solidFill>
                  <a:srgbClr val="188038"/>
                </a:solidFill>
                <a:latin typeface="Roboto Mono"/>
                <a:ea typeface="Roboto Mono"/>
                <a:cs typeface="Roboto Mono"/>
                <a:sym typeface="Roboto Mono"/>
              </a:rPr>
              <a:t>addr</a:t>
            </a:r>
            <a:r>
              <a:rPr lang="en-US"/>
              <a:t> → the address coming from ALU (where in memory to access).</a:t>
            </a:r>
            <a:br>
              <a:rPr lang="en-US"/>
            </a:br>
            <a:endParaRPr/>
          </a:p>
          <a:p>
            <a:pPr indent="0" lvl="0" marL="0" rtl="0" algn="l">
              <a:spcBef>
                <a:spcPts val="0"/>
              </a:spcBef>
              <a:spcAft>
                <a:spcPts val="0"/>
              </a:spcAft>
              <a:buClr>
                <a:schemeClr val="dk1"/>
              </a:buClr>
              <a:buSzPts val="1100"/>
              <a:buFont typeface="Arial"/>
              <a:buNone/>
            </a:pPr>
            <a:r>
              <a:rPr b="1" lang="en-US">
                <a:solidFill>
                  <a:srgbClr val="188038"/>
                </a:solidFill>
                <a:latin typeface="Roboto Mono"/>
                <a:ea typeface="Roboto Mono"/>
                <a:cs typeface="Roboto Mono"/>
                <a:sym typeface="Roboto Mono"/>
              </a:rPr>
              <a:t>data</a:t>
            </a:r>
            <a:r>
              <a:rPr lang="en-US"/>
              <a:t> → the value to store into memory (from register RS2).</a:t>
            </a:r>
            <a:br>
              <a:rPr lang="en-US"/>
            </a:br>
            <a:endParaRPr/>
          </a:p>
          <a:p>
            <a:pPr indent="0" lvl="0" marL="0" rtl="0" algn="l">
              <a:spcBef>
                <a:spcPts val="0"/>
              </a:spcBef>
              <a:spcAft>
                <a:spcPts val="0"/>
              </a:spcAft>
              <a:buClr>
                <a:schemeClr val="dk1"/>
              </a:buClr>
              <a:buSzPts val="1100"/>
              <a:buFont typeface="Arial"/>
              <a:buNone/>
            </a:pPr>
            <a:r>
              <a:rPr b="1" lang="en-US">
                <a:solidFill>
                  <a:srgbClr val="188038"/>
                </a:solidFill>
                <a:latin typeface="Roboto Mono"/>
                <a:ea typeface="Roboto Mono"/>
                <a:cs typeface="Roboto Mono"/>
                <a:sym typeface="Roboto Mono"/>
              </a:rPr>
              <a:t>alu_out</a:t>
            </a:r>
            <a:r>
              <a:rPr lang="en-US"/>
              <a:t> → the arithmetic result from EX (either used directly, or as </a:t>
            </a:r>
            <a:r>
              <a:rPr lang="en-US">
                <a:solidFill>
                  <a:srgbClr val="188038"/>
                </a:solidFill>
                <a:latin typeface="Roboto Mono"/>
                <a:ea typeface="Roboto Mono"/>
                <a:cs typeface="Roboto Mono"/>
                <a:sym typeface="Roboto Mono"/>
              </a:rPr>
              <a:t>addr</a:t>
            </a:r>
            <a:r>
              <a:rPr lang="en-US"/>
              <a:t>).</a:t>
            </a:r>
            <a:br>
              <a:rPr lang="en-US"/>
            </a:br>
            <a:endParaRPr/>
          </a:p>
          <a:p>
            <a:pPr indent="0" lvl="0" marL="0" rtl="0" algn="l">
              <a:spcBef>
                <a:spcPts val="0"/>
              </a:spcBef>
              <a:spcAft>
                <a:spcPts val="0"/>
              </a:spcAft>
              <a:buClr>
                <a:schemeClr val="dk1"/>
              </a:buClr>
              <a:buSzPts val="1100"/>
              <a:buFont typeface="Arial"/>
              <a:buNone/>
            </a:pPr>
            <a:r>
              <a:rPr b="1" lang="en-US">
                <a:solidFill>
                  <a:srgbClr val="188038"/>
                </a:solidFill>
                <a:latin typeface="Roboto Mono"/>
                <a:ea typeface="Roboto Mono"/>
                <a:cs typeface="Roboto Mono"/>
                <a:sym typeface="Roboto Mono"/>
              </a:rPr>
              <a:t>rd</a:t>
            </a:r>
            <a:r>
              <a:rPr lang="en-US"/>
              <a:t> → the destination register index (from instruction bits).</a:t>
            </a:r>
            <a:br>
              <a:rPr lang="en-US"/>
            </a:br>
            <a:endParaRPr/>
          </a:p>
          <a:p>
            <a:pPr indent="0" lvl="0" marL="0" rtl="0" algn="l">
              <a:spcBef>
                <a:spcPts val="0"/>
              </a:spcBef>
              <a:spcAft>
                <a:spcPts val="0"/>
              </a:spcAft>
              <a:buClr>
                <a:schemeClr val="dk1"/>
              </a:buClr>
              <a:buSzPts val="1100"/>
              <a:buFont typeface="Arial"/>
              <a:buNone/>
            </a:pPr>
            <a:r>
              <a:rPr b="1" lang="en-US">
                <a:solidFill>
                  <a:srgbClr val="188038"/>
                </a:solidFill>
                <a:latin typeface="Roboto Mono"/>
                <a:ea typeface="Roboto Mono"/>
                <a:cs typeface="Roboto Mono"/>
                <a:sym typeface="Roboto Mono"/>
              </a:rPr>
              <a:t>write_data</a:t>
            </a:r>
            <a:r>
              <a:rPr lang="en-US"/>
              <a:t> → the final value written into the register file (either </a:t>
            </a:r>
            <a:r>
              <a:rPr lang="en-US">
                <a:solidFill>
                  <a:srgbClr val="188038"/>
                </a:solidFill>
                <a:latin typeface="Roboto Mono"/>
                <a:ea typeface="Roboto Mono"/>
                <a:cs typeface="Roboto Mono"/>
                <a:sym typeface="Roboto Mono"/>
              </a:rPr>
              <a:t>alu_out</a:t>
            </a:r>
            <a:r>
              <a:rPr lang="en-US"/>
              <a:t> or memory output).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RISC 5 !</a:t>
            </a:r>
            <a:r>
              <a:rPr lang="en-US"/>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0"/>
          <p:cNvSpPr txBox="1"/>
          <p:nvPr>
            <p:ph type="ctrTitle"/>
          </p:nvPr>
        </p:nvSpPr>
        <p:spPr>
          <a:xfrm>
            <a:off x="3969582" y="2130425"/>
            <a:ext cx="4488617" cy="1470025"/>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3" name="Google Shape;13;p10"/>
          <p:cNvSpPr txBox="1"/>
          <p:nvPr>
            <p:ph idx="1" type="subTitle"/>
          </p:nvPr>
        </p:nvSpPr>
        <p:spPr>
          <a:xfrm>
            <a:off x="3124200" y="3886200"/>
            <a:ext cx="5333999" cy="1752600"/>
          </a:xfrm>
          <a:prstGeom prst="rect">
            <a:avLst/>
          </a:prstGeom>
          <a:noFill/>
          <a:ln>
            <a:noFill/>
          </a:ln>
        </p:spPr>
        <p:txBody>
          <a:bodyPr anchorCtr="0" anchor="t" bIns="91425" lIns="91425" spcFirstLastPara="1" rIns="91425" wrap="square" tIns="91425">
            <a:noAutofit/>
          </a:bodyPr>
          <a:lstStyle>
            <a:lvl1pPr lvl="0" marR="0" algn="r">
              <a:lnSpc>
                <a:spcPct val="100000"/>
              </a:lnSpc>
              <a:spcBef>
                <a:spcPts val="560"/>
              </a:spcBef>
              <a:spcAft>
                <a:spcPts val="0"/>
              </a:spcAft>
              <a:buClr>
                <a:srgbClr val="FFFFFF"/>
              </a:buClr>
              <a:buSzPts val="2800"/>
              <a:buFont typeface="Arial"/>
              <a:buNone/>
              <a:defRPr b="0" i="0" sz="2800" u="none" cap="none" strike="noStrike">
                <a:solidFill>
                  <a:srgbClr val="FFFFFF"/>
                </a:solidFill>
                <a:latin typeface="Arial"/>
                <a:ea typeface="Arial"/>
                <a:cs typeface="Arial"/>
                <a:sym typeface="Arial"/>
              </a:defRPr>
            </a:lvl1pPr>
            <a:lvl2pPr lvl="1" marR="0" algn="ctr">
              <a:lnSpc>
                <a:spcPct val="100000"/>
              </a:lnSpc>
              <a:spcBef>
                <a:spcPts val="560"/>
              </a:spcBef>
              <a:spcAft>
                <a:spcPts val="0"/>
              </a:spcAft>
              <a:buClr>
                <a:srgbClr val="888888"/>
              </a:buClr>
              <a:buSzPts val="2800"/>
              <a:buFont typeface="Arial"/>
              <a:buNone/>
              <a:defRPr b="0" i="0" sz="2800" u="none" cap="none" strike="noStrike">
                <a:solidFill>
                  <a:srgbClr val="888888"/>
                </a:solidFill>
                <a:latin typeface="Arial"/>
                <a:ea typeface="Arial"/>
                <a:cs typeface="Arial"/>
                <a:sym typeface="Arial"/>
              </a:defRPr>
            </a:lvl2pPr>
            <a:lvl3pPr lvl="2" marR="0" algn="ctr">
              <a:lnSpc>
                <a:spcPct val="100000"/>
              </a:lnSpc>
              <a:spcBef>
                <a:spcPts val="480"/>
              </a:spcBef>
              <a:spcAft>
                <a:spcPts val="0"/>
              </a:spcAft>
              <a:buClr>
                <a:srgbClr val="888888"/>
              </a:buClr>
              <a:buSzPts val="2400"/>
              <a:buFont typeface="Arial"/>
              <a:buNone/>
              <a:defRPr b="0" i="0" sz="2400" u="none" cap="none" strike="noStrike">
                <a:solidFill>
                  <a:srgbClr val="888888"/>
                </a:solidFill>
                <a:latin typeface="Arial"/>
                <a:ea typeface="Arial"/>
                <a:cs typeface="Arial"/>
                <a:sym typeface="Arial"/>
              </a:defRPr>
            </a:lvl3pPr>
            <a:lvl4pPr lvl="3"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4pPr>
            <a:lvl5pPr lvl="4"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9pPr>
          </a:lstStyle>
          <a:p/>
        </p:txBody>
      </p:sp>
      <p:sp>
        <p:nvSpPr>
          <p:cNvPr id="14" name="Google Shape;14;p10"/>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5" name="Google Shape;15;p10"/>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6" name="Google Shape;1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11"/>
          <p:cNvSpPr txBox="1"/>
          <p:nvPr>
            <p:ph type="title"/>
          </p:nvPr>
        </p:nvSpPr>
        <p:spPr>
          <a:xfrm>
            <a:off x="457200" y="1049177"/>
            <a:ext cx="8229600" cy="803756"/>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9" name="Google Shape;19;p11"/>
          <p:cNvSpPr txBox="1"/>
          <p:nvPr>
            <p:ph idx="1" type="body"/>
          </p:nvPr>
        </p:nvSpPr>
        <p:spPr>
          <a:xfrm>
            <a:off x="457200" y="2049270"/>
            <a:ext cx="8229600" cy="4076893"/>
          </a:xfrm>
          <a:prstGeom prst="rect">
            <a:avLst/>
          </a:prstGeom>
          <a:noFill/>
          <a:ln>
            <a:noFill/>
          </a:ln>
        </p:spPr>
        <p:txBody>
          <a:bodyPr anchorCtr="0" anchor="t" bIns="91425" lIns="91425" spcFirstLastPara="1" rIns="91425" wrap="square" tIns="91425">
            <a:no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0" name="Google Shape;20;p11"/>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 name="Google Shape;21;p11"/>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2" name="Google Shape;22;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DLCOE_logo_HWHT.png" id="23" name="Google Shape;23;p11"/>
          <p:cNvPicPr preferRelativeResize="0"/>
          <p:nvPr/>
        </p:nvPicPr>
        <p:blipFill rotWithShape="1">
          <a:blip r:embed="rId3">
            <a:alphaModFix/>
          </a:blip>
          <a:srcRect b="0" l="0" r="0" t="0"/>
          <a:stretch/>
        </p:blipFill>
        <p:spPr>
          <a:xfrm>
            <a:off x="450851" y="234146"/>
            <a:ext cx="2427491" cy="41247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2"/>
          <p:cNvSpPr txBox="1"/>
          <p:nvPr>
            <p:ph idx="1" type="body"/>
          </p:nvPr>
        </p:nvSpPr>
        <p:spPr>
          <a:xfrm>
            <a:off x="457200" y="1975644"/>
            <a:ext cx="4038600" cy="4150519"/>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6" name="Google Shape;26;p12"/>
          <p:cNvSpPr txBox="1"/>
          <p:nvPr>
            <p:ph idx="2" type="body"/>
          </p:nvPr>
        </p:nvSpPr>
        <p:spPr>
          <a:xfrm>
            <a:off x="4648200" y="1975644"/>
            <a:ext cx="4038600" cy="4150519"/>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12"/>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8" name="Google Shape;28;p12"/>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9" name="Google Shape;2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12"/>
          <p:cNvSpPr txBox="1"/>
          <p:nvPr>
            <p:ph type="title"/>
          </p:nvPr>
        </p:nvSpPr>
        <p:spPr>
          <a:xfrm>
            <a:off x="457200" y="1049177"/>
            <a:ext cx="8229600" cy="803756"/>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3"/>
          <p:cNvSpPr txBox="1"/>
          <p:nvPr>
            <p:ph type="title"/>
          </p:nvPr>
        </p:nvSpPr>
        <p:spPr>
          <a:xfrm>
            <a:off x="457200" y="2900649"/>
            <a:ext cx="8229600" cy="11430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 name="Google Shape;33;p13"/>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34" name="Google Shape;34;p13"/>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35" name="Google Shape;3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6" name="Shape 36"/>
        <p:cNvGrpSpPr/>
        <p:nvPr/>
      </p:nvGrpSpPr>
      <p:grpSpPr>
        <a:xfrm>
          <a:off x="0" y="0"/>
          <a:ext cx="0" cy="0"/>
          <a:chOff x="0" y="0"/>
          <a:chExt cx="0" cy="0"/>
        </a:xfrm>
      </p:grpSpPr>
      <p:sp>
        <p:nvSpPr>
          <p:cNvPr id="37" name="Google Shape;37;p14"/>
          <p:cNvSpPr txBox="1"/>
          <p:nvPr>
            <p:ph type="title"/>
          </p:nvPr>
        </p:nvSpPr>
        <p:spPr>
          <a:xfrm>
            <a:off x="457200" y="1066968"/>
            <a:ext cx="3008313" cy="736881"/>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 name="Google Shape;38;p14"/>
          <p:cNvSpPr txBox="1"/>
          <p:nvPr>
            <p:ph idx="1" type="body"/>
          </p:nvPr>
        </p:nvSpPr>
        <p:spPr>
          <a:xfrm>
            <a:off x="3575050" y="1073720"/>
            <a:ext cx="5111750" cy="5052443"/>
          </a:xfrm>
          <a:prstGeom prst="rect">
            <a:avLst/>
          </a:prstGeom>
          <a:noFill/>
          <a:ln>
            <a:noFill/>
          </a:ln>
        </p:spPr>
        <p:txBody>
          <a:bodyPr anchorCtr="0" anchor="t" bIns="91425" lIns="91425" spcFirstLastPara="1" rIns="91425" wrap="square" tIns="91425">
            <a:noAutofit/>
          </a:bodyPr>
          <a:lstStyle>
            <a:lvl1pPr indent="-406400" lvl="0" marL="457200" marR="0" algn="l">
              <a:lnSpc>
                <a:spcPct val="100000"/>
              </a:lnSpc>
              <a:spcBef>
                <a:spcPts val="560"/>
              </a:spcBef>
              <a:spcAft>
                <a:spcPts val="0"/>
              </a:spcAft>
              <a:buClr>
                <a:schemeClr val="dk1"/>
              </a:buClr>
              <a:buSzPts val="2800"/>
              <a:buFont typeface="Arial"/>
              <a:buChar char="•"/>
              <a:defRPr b="1" i="0" sz="2800" u="none" cap="none" strike="noStrike">
                <a:solidFill>
                  <a:schemeClr val="dk1"/>
                </a:solidFill>
                <a:latin typeface="Arial"/>
                <a:ea typeface="Arial"/>
                <a:cs typeface="Arial"/>
                <a:sym typeface="Arial"/>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9" name="Google Shape;39;p14"/>
          <p:cNvSpPr txBox="1"/>
          <p:nvPr>
            <p:ph idx="2" type="body"/>
          </p:nvPr>
        </p:nvSpPr>
        <p:spPr>
          <a:xfrm>
            <a:off x="457200" y="1803850"/>
            <a:ext cx="3008313" cy="4322314"/>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algn="l">
              <a:lnSpc>
                <a:spcPct val="100000"/>
              </a:lnSpc>
              <a:spcBef>
                <a:spcPts val="2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
        <p:nvSpPr>
          <p:cNvPr id="40" name="Google Shape;40;p14"/>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1" name="Google Shape;41;p14"/>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2" name="Google Shape;4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3" name="Shape 43"/>
        <p:cNvGrpSpPr/>
        <p:nvPr/>
      </p:nvGrpSpPr>
      <p:grpSpPr>
        <a:xfrm>
          <a:off x="0" y="0"/>
          <a:ext cx="0" cy="0"/>
          <a:chOff x="0" y="0"/>
          <a:chExt cx="0" cy="0"/>
        </a:xfrm>
      </p:grpSpPr>
      <p:sp>
        <p:nvSpPr>
          <p:cNvPr id="44" name="Google Shape;44;p15"/>
          <p:cNvSpPr txBox="1"/>
          <p:nvPr>
            <p:ph type="title"/>
          </p:nvPr>
        </p:nvSpPr>
        <p:spPr>
          <a:xfrm>
            <a:off x="457200" y="1196430"/>
            <a:ext cx="2573672" cy="566738"/>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 name="Google Shape;45;p15"/>
          <p:cNvSpPr/>
          <p:nvPr>
            <p:ph idx="2" type="pic"/>
          </p:nvPr>
        </p:nvSpPr>
        <p:spPr>
          <a:xfrm>
            <a:off x="3200400" y="1196430"/>
            <a:ext cx="5486400" cy="4850287"/>
          </a:xfrm>
          <a:prstGeom prst="rect">
            <a:avLst/>
          </a:prstGeom>
          <a:noFill/>
          <a:ln>
            <a:noFill/>
          </a:ln>
        </p:spPr>
      </p:sp>
      <p:sp>
        <p:nvSpPr>
          <p:cNvPr id="46" name="Google Shape;46;p15"/>
          <p:cNvSpPr txBox="1"/>
          <p:nvPr>
            <p:ph idx="1" type="body"/>
          </p:nvPr>
        </p:nvSpPr>
        <p:spPr>
          <a:xfrm>
            <a:off x="457200" y="1768043"/>
            <a:ext cx="2573672" cy="4278673"/>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algn="l">
              <a:lnSpc>
                <a:spcPct val="100000"/>
              </a:lnSpc>
              <a:spcBef>
                <a:spcPts val="2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
        <p:nvSpPr>
          <p:cNvPr id="47" name="Google Shape;47;p15"/>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8" name="Google Shape;48;p15"/>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9" name="Google Shape;4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56" name="Shape 56"/>
        <p:cNvGrpSpPr/>
        <p:nvPr/>
      </p:nvGrpSpPr>
      <p:grpSpPr>
        <a:xfrm>
          <a:off x="0" y="0"/>
          <a:ext cx="0" cy="0"/>
          <a:chOff x="0" y="0"/>
          <a:chExt cx="0" cy="0"/>
        </a:xfrm>
      </p:grpSpPr>
      <p:sp>
        <p:nvSpPr>
          <p:cNvPr id="57" name="Google Shape;57;g3826238830a_1_82"/>
          <p:cNvSpPr txBox="1"/>
          <p:nvPr>
            <p:ph type="ctrTitle"/>
          </p:nvPr>
        </p:nvSpPr>
        <p:spPr>
          <a:xfrm>
            <a:off x="3969582" y="2130425"/>
            <a:ext cx="4488600" cy="1470000"/>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3600"/>
              <a:buFont typeface="Arial"/>
              <a:buNone/>
              <a:defRPr b="1"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g3826238830a_1_82"/>
          <p:cNvSpPr txBox="1"/>
          <p:nvPr>
            <p:ph idx="1" type="subTitle"/>
          </p:nvPr>
        </p:nvSpPr>
        <p:spPr>
          <a:xfrm>
            <a:off x="3124200" y="3886200"/>
            <a:ext cx="5334000" cy="1752600"/>
          </a:xfrm>
          <a:prstGeom prst="rect">
            <a:avLst/>
          </a:prstGeom>
          <a:noFill/>
          <a:ln>
            <a:noFill/>
          </a:ln>
        </p:spPr>
        <p:txBody>
          <a:bodyPr anchorCtr="0" anchor="t" bIns="45700" lIns="91425" spcFirstLastPara="1" rIns="91425" wrap="square" tIns="45700">
            <a:normAutofit/>
          </a:bodyPr>
          <a:lstStyle>
            <a:lvl1pPr lvl="0" algn="r">
              <a:spcBef>
                <a:spcPts val="560"/>
              </a:spcBef>
              <a:spcAft>
                <a:spcPts val="0"/>
              </a:spcAft>
              <a:buClr>
                <a:srgbClr val="FFFFFF"/>
              </a:buClr>
              <a:buSzPts val="2800"/>
              <a:buNone/>
              <a:defRPr sz="2800">
                <a:solidFill>
                  <a:srgbClr val="FFFFF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59" name="Google Shape;59;g3826238830a_1_8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g3826238830a_1_8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g3826238830a_1_8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g3826238830a_1_88"/>
          <p:cNvSpPr txBox="1"/>
          <p:nvPr>
            <p:ph type="title"/>
          </p:nvPr>
        </p:nvSpPr>
        <p:spPr>
          <a:xfrm>
            <a:off x="457200" y="1049177"/>
            <a:ext cx="8229600" cy="8037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Aria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g3826238830a_1_88"/>
          <p:cNvSpPr txBox="1"/>
          <p:nvPr>
            <p:ph idx="1" type="body"/>
          </p:nvPr>
        </p:nvSpPr>
        <p:spPr>
          <a:xfrm>
            <a:off x="457200" y="2049270"/>
            <a:ext cx="8229600" cy="40770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5" name="Google Shape;65;g3826238830a_1_8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g3826238830a_1_8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g3826238830a_1_8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pic>
        <p:nvPicPr>
          <p:cNvPr descr="DLCOE_logo_HWHT.png" id="68" name="Google Shape;68;g3826238830a_1_88"/>
          <p:cNvPicPr preferRelativeResize="0"/>
          <p:nvPr/>
        </p:nvPicPr>
        <p:blipFill rotWithShape="1">
          <a:blip r:embed="rId3">
            <a:alphaModFix/>
          </a:blip>
          <a:srcRect b="0" l="0" r="0" t="0"/>
          <a:stretch/>
        </p:blipFill>
        <p:spPr>
          <a:xfrm>
            <a:off x="450851" y="234146"/>
            <a:ext cx="2443864" cy="41260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9" name="Shape 69"/>
        <p:cNvGrpSpPr/>
        <p:nvPr/>
      </p:nvGrpSpPr>
      <p:grpSpPr>
        <a:xfrm>
          <a:off x="0" y="0"/>
          <a:ext cx="0" cy="0"/>
          <a:chOff x="0" y="0"/>
          <a:chExt cx="0" cy="0"/>
        </a:xfrm>
      </p:grpSpPr>
      <p:sp>
        <p:nvSpPr>
          <p:cNvPr id="70" name="Google Shape;70;g3826238830a_1_95"/>
          <p:cNvSpPr txBox="1"/>
          <p:nvPr>
            <p:ph idx="1" type="body"/>
          </p:nvPr>
        </p:nvSpPr>
        <p:spPr>
          <a:xfrm>
            <a:off x="457200" y="1975644"/>
            <a:ext cx="4038600" cy="41505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1" name="Google Shape;71;g3826238830a_1_95"/>
          <p:cNvSpPr txBox="1"/>
          <p:nvPr>
            <p:ph idx="2" type="body"/>
          </p:nvPr>
        </p:nvSpPr>
        <p:spPr>
          <a:xfrm>
            <a:off x="4648200" y="1975644"/>
            <a:ext cx="4038600" cy="41505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2" name="Google Shape;72;g3826238830a_1_9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g3826238830a_1_9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g3826238830a_1_9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g3826238830a_1_95"/>
          <p:cNvSpPr txBox="1"/>
          <p:nvPr>
            <p:ph type="title"/>
          </p:nvPr>
        </p:nvSpPr>
        <p:spPr>
          <a:xfrm>
            <a:off x="457200" y="1049177"/>
            <a:ext cx="8229600" cy="8037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Aria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g3826238830a_1_102"/>
          <p:cNvSpPr txBox="1"/>
          <p:nvPr>
            <p:ph type="title"/>
          </p:nvPr>
        </p:nvSpPr>
        <p:spPr>
          <a:xfrm>
            <a:off x="457200" y="2900649"/>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Arial"/>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g3826238830a_1_10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g3826238830a_1_10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g3826238830a_1_10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1" name="Shape 81"/>
        <p:cNvGrpSpPr/>
        <p:nvPr/>
      </p:nvGrpSpPr>
      <p:grpSpPr>
        <a:xfrm>
          <a:off x="0" y="0"/>
          <a:ext cx="0" cy="0"/>
          <a:chOff x="0" y="0"/>
          <a:chExt cx="0" cy="0"/>
        </a:xfrm>
      </p:grpSpPr>
      <p:sp>
        <p:nvSpPr>
          <p:cNvPr id="82" name="Google Shape;82;g3826238830a_1_107"/>
          <p:cNvSpPr txBox="1"/>
          <p:nvPr>
            <p:ph type="title"/>
          </p:nvPr>
        </p:nvSpPr>
        <p:spPr>
          <a:xfrm>
            <a:off x="457200" y="1066968"/>
            <a:ext cx="3008400" cy="736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g3826238830a_1_107"/>
          <p:cNvSpPr txBox="1"/>
          <p:nvPr>
            <p:ph idx="1" type="body"/>
          </p:nvPr>
        </p:nvSpPr>
        <p:spPr>
          <a:xfrm>
            <a:off x="3575050" y="1073720"/>
            <a:ext cx="5111700" cy="50523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b="1" sz="28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84" name="Google Shape;84;g3826238830a_1_107"/>
          <p:cNvSpPr txBox="1"/>
          <p:nvPr>
            <p:ph idx="2" type="body"/>
          </p:nvPr>
        </p:nvSpPr>
        <p:spPr>
          <a:xfrm>
            <a:off x="457200" y="1803850"/>
            <a:ext cx="3008400" cy="43224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5" name="Google Shape;85;g3826238830a_1_10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g3826238830a_1_10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g3826238830a_1_10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8" name="Shape 88"/>
        <p:cNvGrpSpPr/>
        <p:nvPr/>
      </p:nvGrpSpPr>
      <p:grpSpPr>
        <a:xfrm>
          <a:off x="0" y="0"/>
          <a:ext cx="0" cy="0"/>
          <a:chOff x="0" y="0"/>
          <a:chExt cx="0" cy="0"/>
        </a:xfrm>
      </p:grpSpPr>
      <p:sp>
        <p:nvSpPr>
          <p:cNvPr id="89" name="Google Shape;89;g3826238830a_1_114"/>
          <p:cNvSpPr txBox="1"/>
          <p:nvPr>
            <p:ph type="title"/>
          </p:nvPr>
        </p:nvSpPr>
        <p:spPr>
          <a:xfrm>
            <a:off x="457200" y="1196430"/>
            <a:ext cx="2573700" cy="5667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1800"/>
              <a:buFont typeface="Arial"/>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g3826238830a_1_114"/>
          <p:cNvSpPr/>
          <p:nvPr>
            <p:ph idx="2" type="pic"/>
          </p:nvPr>
        </p:nvSpPr>
        <p:spPr>
          <a:xfrm>
            <a:off x="3200400" y="1196430"/>
            <a:ext cx="5486400" cy="4850400"/>
          </a:xfrm>
          <a:prstGeom prst="rect">
            <a:avLst/>
          </a:prstGeom>
          <a:noFill/>
          <a:ln>
            <a:noFill/>
          </a:ln>
        </p:spPr>
      </p:sp>
      <p:sp>
        <p:nvSpPr>
          <p:cNvPr id="91" name="Google Shape;91;g3826238830a_1_114"/>
          <p:cNvSpPr txBox="1"/>
          <p:nvPr>
            <p:ph idx="1" type="body"/>
          </p:nvPr>
        </p:nvSpPr>
        <p:spPr>
          <a:xfrm>
            <a:off x="457200" y="1768043"/>
            <a:ext cx="2573700" cy="42786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92" name="Google Shape;92;g3826238830a_1_1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g3826238830a_1_1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g3826238830a_1_1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7" name="Google Shape;7;p9"/>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9"/>
          <p:cNvSpPr txBox="1"/>
          <p:nvPr>
            <p:ph idx="10" type="dt"/>
          </p:nvPr>
        </p:nvSpPr>
        <p:spPr>
          <a:xfrm>
            <a:off x="457200" y="6356350"/>
            <a:ext cx="2133600" cy="365125"/>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9"/>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888888"/>
              </a:buClr>
              <a:buSzPts val="3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g3826238830a_1_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g3826238830a_1_7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3" name="Google Shape;53;g3826238830a_1_7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g3826238830a_1_7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g3826238830a_1_7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 id="2147483661"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
          <p:cNvSpPr txBox="1"/>
          <p:nvPr>
            <p:ph type="ctrTitle"/>
          </p:nvPr>
        </p:nvSpPr>
        <p:spPr>
          <a:xfrm>
            <a:off x="3969582" y="2130425"/>
            <a:ext cx="4488617" cy="14700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900"/>
              <a:buFont typeface="Arial"/>
              <a:buNone/>
            </a:pPr>
            <a:r>
              <a:rPr b="1" i="0" lang="en-US" sz="3600" u="none" cap="none" strike="noStrike">
                <a:solidFill>
                  <a:schemeClr val="lt1"/>
                </a:solidFill>
                <a:latin typeface="Arial"/>
                <a:ea typeface="Arial"/>
                <a:cs typeface="Arial"/>
                <a:sym typeface="Arial"/>
              </a:rPr>
              <a:t>ECE</a:t>
            </a:r>
            <a:r>
              <a:rPr lang="en-US"/>
              <a:t>N</a:t>
            </a:r>
            <a:r>
              <a:rPr b="1" i="0" lang="en-US" sz="3600" u="none" cap="none" strike="noStrike">
                <a:solidFill>
                  <a:schemeClr val="lt1"/>
                </a:solidFill>
                <a:latin typeface="Arial"/>
                <a:ea typeface="Arial"/>
                <a:cs typeface="Arial"/>
                <a:sym typeface="Arial"/>
              </a:rPr>
              <a:t> 403</a:t>
            </a:r>
            <a:br>
              <a:rPr b="1" i="0" lang="en-US" sz="3600" u="none" cap="none" strike="noStrike">
                <a:solidFill>
                  <a:schemeClr val="lt1"/>
                </a:solidFill>
                <a:latin typeface="Arial"/>
                <a:ea typeface="Arial"/>
                <a:cs typeface="Arial"/>
                <a:sym typeface="Arial"/>
              </a:rPr>
            </a:br>
            <a:r>
              <a:rPr b="1" i="0" lang="en-US" sz="2400" u="none" cap="none" strike="noStrike">
                <a:solidFill>
                  <a:schemeClr val="lt1"/>
                </a:solidFill>
                <a:latin typeface="Arial"/>
                <a:ea typeface="Arial"/>
                <a:cs typeface="Arial"/>
                <a:sym typeface="Arial"/>
              </a:rPr>
              <a:t>Midterm Presentation</a:t>
            </a:r>
            <a:endParaRPr b="1" i="0" sz="3600" u="none" cap="none" strike="noStrike">
              <a:solidFill>
                <a:schemeClr val="lt1"/>
              </a:solidFill>
              <a:latin typeface="Arial"/>
              <a:ea typeface="Arial"/>
              <a:cs typeface="Arial"/>
              <a:sym typeface="Arial"/>
            </a:endParaRPr>
          </a:p>
        </p:txBody>
      </p:sp>
      <p:sp>
        <p:nvSpPr>
          <p:cNvPr id="100" name="Google Shape;100;p1"/>
          <p:cNvSpPr/>
          <p:nvPr/>
        </p:nvSpPr>
        <p:spPr>
          <a:xfrm>
            <a:off x="0" y="0"/>
            <a:ext cx="6111425" cy="6111425"/>
          </a:xfrm>
          <a:prstGeom prst="diagStripe">
            <a:avLst>
              <a:gd fmla="val 28990" name="adj"/>
            </a:avLst>
          </a:prstGeom>
          <a:blipFill rotWithShape="1">
            <a:blip r:embed="rId3">
              <a:alphaModFix/>
            </a:blip>
            <a:stretch>
              <a:fillRect b="0" l="0" r="0" t="0"/>
            </a:stretch>
          </a:blipFill>
          <a:ln>
            <a:noFill/>
          </a:ln>
          <a:effectLst>
            <a:outerShdw blurRad="193675" rotWithShape="0" dir="5400000" dist="23000">
              <a:srgbClr val="00000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DLCOE_logo_HWHT.png" id="101" name="Google Shape;101;p1"/>
          <p:cNvPicPr preferRelativeResize="0"/>
          <p:nvPr/>
        </p:nvPicPr>
        <p:blipFill rotWithShape="1">
          <a:blip r:embed="rId4">
            <a:alphaModFix/>
          </a:blip>
          <a:srcRect b="0" l="0" r="0" t="0"/>
          <a:stretch/>
        </p:blipFill>
        <p:spPr>
          <a:xfrm>
            <a:off x="5344000" y="1105318"/>
            <a:ext cx="3093334" cy="525616"/>
          </a:xfrm>
          <a:prstGeom prst="rect">
            <a:avLst/>
          </a:prstGeom>
          <a:noFill/>
          <a:ln>
            <a:noFill/>
          </a:ln>
        </p:spPr>
      </p:pic>
      <p:sp>
        <p:nvSpPr>
          <p:cNvPr id="102" name="Google Shape;102;p1"/>
          <p:cNvSpPr txBox="1"/>
          <p:nvPr>
            <p:ph idx="1" type="subTitle"/>
          </p:nvPr>
        </p:nvSpPr>
        <p:spPr>
          <a:xfrm>
            <a:off x="2453225" y="3511000"/>
            <a:ext cx="5984100" cy="1752600"/>
          </a:xfrm>
          <a:prstGeom prst="rect">
            <a:avLst/>
          </a:prstGeom>
          <a:noFill/>
          <a:ln>
            <a:noFill/>
          </a:ln>
        </p:spPr>
        <p:txBody>
          <a:bodyPr anchorCtr="0" anchor="t" bIns="45700" lIns="91425" spcFirstLastPara="1" rIns="91425" wrap="square" tIns="45700">
            <a:noAutofit/>
          </a:bodyPr>
          <a:lstStyle/>
          <a:p>
            <a:pPr indent="0" lvl="0" marL="914400" marR="0" rtl="0" algn="r">
              <a:lnSpc>
                <a:spcPct val="100000"/>
              </a:lnSpc>
              <a:spcBef>
                <a:spcPts val="0"/>
              </a:spcBef>
              <a:spcAft>
                <a:spcPts val="0"/>
              </a:spcAft>
              <a:buClr>
                <a:srgbClr val="FFFFFF"/>
              </a:buClr>
              <a:buSzPts val="700"/>
              <a:buFont typeface="Arial"/>
              <a:buNone/>
            </a:pPr>
            <a:r>
              <a:rPr b="1" lang="en-US"/>
              <a:t>OpenROAD VLSI Design II</a:t>
            </a:r>
            <a:r>
              <a:rPr b="0" i="0" lang="en-US" sz="2800" u="none" cap="none" strike="noStrike">
                <a:solidFill>
                  <a:srgbClr val="FFFFFF"/>
                </a:solidFill>
                <a:latin typeface="Arial"/>
                <a:ea typeface="Arial"/>
                <a:cs typeface="Arial"/>
                <a:sym typeface="Arial"/>
              </a:rPr>
              <a:t> </a:t>
            </a:r>
            <a:br>
              <a:rPr b="0" i="0" lang="en-US" sz="2800" u="none" cap="none" strike="noStrike">
                <a:solidFill>
                  <a:srgbClr val="FFFFFF"/>
                </a:solidFill>
                <a:latin typeface="Arial"/>
                <a:ea typeface="Arial"/>
                <a:cs typeface="Arial"/>
                <a:sym typeface="Arial"/>
              </a:rPr>
            </a:br>
            <a:r>
              <a:rPr b="0" i="0" lang="en-US" sz="2800" u="none" cap="none" strike="noStrike">
                <a:solidFill>
                  <a:srgbClr val="FFFFFF"/>
                </a:solidFill>
                <a:latin typeface="Arial"/>
                <a:ea typeface="Arial"/>
                <a:cs typeface="Arial"/>
                <a:sym typeface="Arial"/>
              </a:rPr>
              <a:t>			</a:t>
            </a:r>
            <a:r>
              <a:rPr lang="en-US"/>
              <a:t>Kevin Umanzor</a:t>
            </a:r>
            <a:endParaRPr/>
          </a:p>
          <a:p>
            <a:pPr indent="0" lvl="0" marL="914400" marR="0" rtl="0" algn="r">
              <a:lnSpc>
                <a:spcPct val="100000"/>
              </a:lnSpc>
              <a:spcBef>
                <a:spcPts val="0"/>
              </a:spcBef>
              <a:spcAft>
                <a:spcPts val="0"/>
              </a:spcAft>
              <a:buClr>
                <a:srgbClr val="FFFFFF"/>
              </a:buClr>
              <a:buSzPts val="700"/>
              <a:buFont typeface="Arial"/>
              <a:buNone/>
            </a:pPr>
            <a:r>
              <a:rPr lang="en-US"/>
              <a:t>Talha Ibrahim</a:t>
            </a:r>
            <a:endParaRPr/>
          </a:p>
          <a:p>
            <a:pPr indent="0" lvl="0" marL="0" marR="0" rtl="0" algn="r">
              <a:lnSpc>
                <a:spcPct val="100000"/>
              </a:lnSpc>
              <a:spcBef>
                <a:spcPts val="0"/>
              </a:spcBef>
              <a:spcAft>
                <a:spcPts val="0"/>
              </a:spcAft>
              <a:buClr>
                <a:srgbClr val="FFFFFF"/>
              </a:buClr>
              <a:buSzPts val="700"/>
              <a:buFont typeface="Arial"/>
              <a:buNone/>
            </a:pPr>
            <a:r>
              <a:rPr lang="en-US"/>
              <a:t>Githin Johny </a:t>
            </a:r>
            <a:endParaRPr/>
          </a:p>
          <a:p>
            <a:pPr indent="0" lvl="0" marL="0" marR="0" rtl="0" algn="r">
              <a:lnSpc>
                <a:spcPct val="100000"/>
              </a:lnSpc>
              <a:spcBef>
                <a:spcPts val="0"/>
              </a:spcBef>
              <a:spcAft>
                <a:spcPts val="0"/>
              </a:spcAft>
              <a:buClr>
                <a:srgbClr val="FFFFFF"/>
              </a:buClr>
              <a:buSzPts val="700"/>
              <a:buFont typeface="Arial"/>
              <a:buNone/>
            </a:pPr>
            <a:r>
              <a:rPr lang="en-US"/>
              <a:t>Giovani Giagnacovo</a:t>
            </a:r>
            <a:endParaRPr/>
          </a:p>
          <a:p>
            <a:pPr indent="0" lvl="0" marL="0" marR="0" rtl="0" algn="r">
              <a:lnSpc>
                <a:spcPct val="100000"/>
              </a:lnSpc>
              <a:spcBef>
                <a:spcPts val="0"/>
              </a:spcBef>
              <a:spcAft>
                <a:spcPts val="0"/>
              </a:spcAft>
              <a:buClr>
                <a:srgbClr val="FFFFFF"/>
              </a:buClr>
              <a:buSzPts val="700"/>
              <a:buFont typeface="Arial"/>
              <a:buNone/>
            </a:pPr>
            <a:r>
              <a:rPr lang="en-US"/>
              <a:t>TA: Hailey Ward</a:t>
            </a:r>
            <a:endParaRPr/>
          </a:p>
          <a:p>
            <a:pPr indent="0" lvl="0" marL="0" marR="0" rtl="0" algn="r">
              <a:lnSpc>
                <a:spcPct val="100000"/>
              </a:lnSpc>
              <a:spcBef>
                <a:spcPts val="0"/>
              </a:spcBef>
              <a:spcAft>
                <a:spcPts val="0"/>
              </a:spcAft>
              <a:buClr>
                <a:srgbClr val="FFFFFF"/>
              </a:buClr>
              <a:buSzPts val="700"/>
              <a:buFont typeface="Arial"/>
              <a:buNone/>
            </a:pPr>
            <a:r>
              <a:rPr lang="en-US"/>
              <a:t>Sponsor: Dr. Kevin Nowka</a:t>
            </a:r>
            <a:br>
              <a:rPr lang="en-US"/>
            </a:br>
            <a:endParaRPr/>
          </a:p>
        </p:txBody>
      </p:sp>
      <p:sp>
        <p:nvSpPr>
          <p:cNvPr id="103" name="Google Shape;103;p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35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p:nvPr/>
        </p:nvSpPr>
        <p:spPr>
          <a:xfrm>
            <a:off x="7187400" y="2658038"/>
            <a:ext cx="1755300" cy="997800"/>
          </a:xfrm>
          <a:prstGeom prst="chevron">
            <a:avLst>
              <a:gd fmla="val 50000" name="adj"/>
            </a:avLst>
          </a:prstGeom>
          <a:solidFill>
            <a:srgbClr val="980000"/>
          </a:solidFill>
          <a:ln>
            <a:noFill/>
          </a:ln>
        </p:spPr>
        <p:txBody>
          <a:bodyPr anchorCtr="0" anchor="ctr" bIns="87525" lIns="87525" spcFirstLastPara="1" rIns="87525" wrap="square" tIns="87525">
            <a:noAutofit/>
          </a:bodyPr>
          <a:lstStyle/>
          <a:p>
            <a:pPr indent="0" lvl="0" marL="0" rtl="0" algn="ctr">
              <a:spcBef>
                <a:spcPts val="0"/>
              </a:spcBef>
              <a:spcAft>
                <a:spcPts val="0"/>
              </a:spcAft>
              <a:buNone/>
            </a:pPr>
            <a:r>
              <a:t/>
            </a:r>
            <a:endParaRPr sz="1053">
              <a:solidFill>
                <a:srgbClr val="FFFFFF"/>
              </a:solidFill>
              <a:latin typeface="Roboto"/>
              <a:ea typeface="Roboto"/>
              <a:cs typeface="Roboto"/>
              <a:sym typeface="Roboto"/>
            </a:endParaRPr>
          </a:p>
        </p:txBody>
      </p:sp>
      <p:sp>
        <p:nvSpPr>
          <p:cNvPr id="109" name="Google Shape;109;p2"/>
          <p:cNvSpPr/>
          <p:nvPr/>
        </p:nvSpPr>
        <p:spPr>
          <a:xfrm>
            <a:off x="2875833" y="2658038"/>
            <a:ext cx="1755300" cy="997800"/>
          </a:xfrm>
          <a:prstGeom prst="chevron">
            <a:avLst>
              <a:gd fmla="val 50000" name="adj"/>
            </a:avLst>
          </a:prstGeom>
          <a:solidFill>
            <a:srgbClr val="D83729"/>
          </a:solidFill>
          <a:ln>
            <a:noFill/>
          </a:ln>
        </p:spPr>
        <p:txBody>
          <a:bodyPr anchorCtr="0" anchor="ctr" bIns="87525" lIns="87525" spcFirstLastPara="1" rIns="87525" wrap="square" tIns="87525">
            <a:noAutofit/>
          </a:bodyPr>
          <a:lstStyle/>
          <a:p>
            <a:pPr indent="0" lvl="0" marL="0" rtl="0" algn="ctr">
              <a:spcBef>
                <a:spcPts val="0"/>
              </a:spcBef>
              <a:spcAft>
                <a:spcPts val="0"/>
              </a:spcAft>
              <a:buNone/>
            </a:pPr>
            <a:r>
              <a:t/>
            </a:r>
            <a:endParaRPr sz="1053">
              <a:solidFill>
                <a:srgbClr val="FFFFFF"/>
              </a:solidFill>
              <a:latin typeface="Roboto"/>
              <a:ea typeface="Roboto"/>
              <a:cs typeface="Roboto"/>
              <a:sym typeface="Roboto"/>
            </a:endParaRPr>
          </a:p>
        </p:txBody>
      </p:sp>
      <p:sp>
        <p:nvSpPr>
          <p:cNvPr id="110" name="Google Shape;110;p2"/>
          <p:cNvSpPr/>
          <p:nvPr/>
        </p:nvSpPr>
        <p:spPr>
          <a:xfrm>
            <a:off x="201250" y="2658369"/>
            <a:ext cx="1567200" cy="997800"/>
          </a:xfrm>
          <a:prstGeom prst="homePlate">
            <a:avLst>
              <a:gd fmla="val 50000" name="adj"/>
            </a:avLst>
          </a:prstGeom>
          <a:solidFill>
            <a:srgbClr val="801F17"/>
          </a:solidFill>
          <a:ln>
            <a:noFill/>
          </a:ln>
        </p:spPr>
        <p:txBody>
          <a:bodyPr anchorCtr="0" anchor="ctr" bIns="87525" lIns="87525" spcFirstLastPara="1" rIns="87525" wrap="square" tIns="87525">
            <a:noAutofit/>
          </a:bodyPr>
          <a:lstStyle/>
          <a:p>
            <a:pPr indent="0" lvl="0" marL="0" rtl="0" algn="ctr">
              <a:spcBef>
                <a:spcPts val="0"/>
              </a:spcBef>
              <a:spcAft>
                <a:spcPts val="0"/>
              </a:spcAft>
              <a:buNone/>
            </a:pPr>
            <a:r>
              <a:t/>
            </a:r>
            <a:endParaRPr sz="1053">
              <a:solidFill>
                <a:srgbClr val="FFFFFF"/>
              </a:solidFill>
              <a:latin typeface="Roboto"/>
              <a:ea typeface="Roboto"/>
              <a:cs typeface="Roboto"/>
              <a:sym typeface="Roboto"/>
            </a:endParaRPr>
          </a:p>
        </p:txBody>
      </p:sp>
      <p:sp>
        <p:nvSpPr>
          <p:cNvPr id="111" name="Google Shape;111;p2"/>
          <p:cNvSpPr/>
          <p:nvPr/>
        </p:nvSpPr>
        <p:spPr>
          <a:xfrm>
            <a:off x="1448202" y="2658038"/>
            <a:ext cx="1755300" cy="997800"/>
          </a:xfrm>
          <a:prstGeom prst="chevron">
            <a:avLst>
              <a:gd fmla="val 50000" name="adj"/>
            </a:avLst>
          </a:prstGeom>
          <a:solidFill>
            <a:srgbClr val="B02B20"/>
          </a:solidFill>
          <a:ln>
            <a:noFill/>
          </a:ln>
        </p:spPr>
        <p:txBody>
          <a:bodyPr anchorCtr="0" anchor="ctr" bIns="87525" lIns="87525" spcFirstLastPara="1" rIns="87525" wrap="square" tIns="87525">
            <a:noAutofit/>
          </a:bodyPr>
          <a:lstStyle/>
          <a:p>
            <a:pPr indent="0" lvl="0" marL="0" rtl="0" algn="ctr">
              <a:spcBef>
                <a:spcPts val="0"/>
              </a:spcBef>
              <a:spcAft>
                <a:spcPts val="0"/>
              </a:spcAft>
              <a:buNone/>
            </a:pPr>
            <a:r>
              <a:t/>
            </a:r>
            <a:endParaRPr sz="1053">
              <a:solidFill>
                <a:srgbClr val="FFFFFF"/>
              </a:solidFill>
              <a:latin typeface="Roboto"/>
              <a:ea typeface="Roboto"/>
              <a:cs typeface="Roboto"/>
              <a:sym typeface="Roboto"/>
            </a:endParaRPr>
          </a:p>
        </p:txBody>
      </p:sp>
      <p:sp>
        <p:nvSpPr>
          <p:cNvPr id="112" name="Google Shape;112;p2"/>
          <p:cNvSpPr/>
          <p:nvPr/>
        </p:nvSpPr>
        <p:spPr>
          <a:xfrm>
            <a:off x="5745425" y="2658206"/>
            <a:ext cx="1755300" cy="997800"/>
          </a:xfrm>
          <a:prstGeom prst="chevron">
            <a:avLst>
              <a:gd fmla="val 50000" name="adj"/>
            </a:avLst>
          </a:prstGeom>
          <a:solidFill>
            <a:srgbClr val="D83729"/>
          </a:solidFill>
          <a:ln>
            <a:noFill/>
          </a:ln>
        </p:spPr>
        <p:txBody>
          <a:bodyPr anchorCtr="0" anchor="ctr" bIns="87525" lIns="87525" spcFirstLastPara="1" rIns="87525" wrap="square" tIns="87525">
            <a:noAutofit/>
          </a:bodyPr>
          <a:lstStyle/>
          <a:p>
            <a:pPr indent="0" lvl="0" marL="0" rtl="0" algn="ctr">
              <a:spcBef>
                <a:spcPts val="0"/>
              </a:spcBef>
              <a:spcAft>
                <a:spcPts val="0"/>
              </a:spcAft>
              <a:buNone/>
            </a:pPr>
            <a:r>
              <a:t/>
            </a:r>
            <a:endParaRPr sz="1053">
              <a:solidFill>
                <a:srgbClr val="FFFFFF"/>
              </a:solidFill>
              <a:latin typeface="Roboto"/>
              <a:ea typeface="Roboto"/>
              <a:cs typeface="Roboto"/>
              <a:sym typeface="Roboto"/>
            </a:endParaRPr>
          </a:p>
        </p:txBody>
      </p:sp>
      <p:sp>
        <p:nvSpPr>
          <p:cNvPr id="113" name="Google Shape;113;p2"/>
          <p:cNvSpPr/>
          <p:nvPr/>
        </p:nvSpPr>
        <p:spPr>
          <a:xfrm>
            <a:off x="4317794" y="2658206"/>
            <a:ext cx="1755300" cy="997800"/>
          </a:xfrm>
          <a:prstGeom prst="chevron">
            <a:avLst>
              <a:gd fmla="val 50000" name="adj"/>
            </a:avLst>
          </a:prstGeom>
          <a:solidFill>
            <a:srgbClr val="B02B20"/>
          </a:solidFill>
          <a:ln>
            <a:noFill/>
          </a:ln>
        </p:spPr>
        <p:txBody>
          <a:bodyPr anchorCtr="0" anchor="ctr" bIns="87525" lIns="87525" spcFirstLastPara="1" rIns="87525" wrap="square" tIns="87525">
            <a:noAutofit/>
          </a:bodyPr>
          <a:lstStyle/>
          <a:p>
            <a:pPr indent="0" lvl="0" marL="0" rtl="0" algn="ctr">
              <a:spcBef>
                <a:spcPts val="0"/>
              </a:spcBef>
              <a:spcAft>
                <a:spcPts val="0"/>
              </a:spcAft>
              <a:buNone/>
            </a:pPr>
            <a:r>
              <a:t/>
            </a:r>
            <a:endParaRPr sz="1053">
              <a:solidFill>
                <a:srgbClr val="FFFFFF"/>
              </a:solidFill>
              <a:latin typeface="Roboto"/>
              <a:ea typeface="Roboto"/>
              <a:cs typeface="Roboto"/>
              <a:sym typeface="Roboto"/>
            </a:endParaRPr>
          </a:p>
        </p:txBody>
      </p:sp>
      <p:sp>
        <p:nvSpPr>
          <p:cNvPr id="114" name="Google Shape;114;p2"/>
          <p:cNvSpPr txBox="1"/>
          <p:nvPr/>
        </p:nvSpPr>
        <p:spPr>
          <a:xfrm>
            <a:off x="3355330" y="2953687"/>
            <a:ext cx="1184100" cy="330300"/>
          </a:xfrm>
          <a:prstGeom prst="rect">
            <a:avLst/>
          </a:prstGeom>
          <a:noFill/>
          <a:ln>
            <a:noFill/>
          </a:ln>
        </p:spPr>
        <p:txBody>
          <a:bodyPr anchorCtr="0" anchor="t" bIns="87525" lIns="87525" spcFirstLastPara="1" rIns="87525" wrap="square" tIns="87525">
            <a:noAutofit/>
          </a:bodyPr>
          <a:lstStyle/>
          <a:p>
            <a:pPr indent="0" lvl="0" marL="0" rtl="0" algn="l">
              <a:spcBef>
                <a:spcPts val="0"/>
              </a:spcBef>
              <a:spcAft>
                <a:spcPts val="0"/>
              </a:spcAft>
              <a:buNone/>
            </a:pPr>
            <a:r>
              <a:rPr lang="en-US" sz="1627">
                <a:solidFill>
                  <a:srgbClr val="FFFFFF"/>
                </a:solidFill>
                <a:latin typeface="Roboto"/>
                <a:ea typeface="Roboto"/>
                <a:cs typeface="Roboto"/>
                <a:sym typeface="Roboto"/>
              </a:rPr>
              <a:t>Placement</a:t>
            </a:r>
            <a:endParaRPr sz="1914">
              <a:solidFill>
                <a:srgbClr val="000000"/>
              </a:solidFill>
            </a:endParaRPr>
          </a:p>
        </p:txBody>
      </p:sp>
      <p:sp>
        <p:nvSpPr>
          <p:cNvPr id="115" name="Google Shape;115;p2"/>
          <p:cNvSpPr txBox="1"/>
          <p:nvPr/>
        </p:nvSpPr>
        <p:spPr>
          <a:xfrm>
            <a:off x="319366" y="2871572"/>
            <a:ext cx="1184100" cy="426600"/>
          </a:xfrm>
          <a:prstGeom prst="rect">
            <a:avLst/>
          </a:prstGeom>
          <a:noFill/>
          <a:ln>
            <a:noFill/>
          </a:ln>
        </p:spPr>
        <p:txBody>
          <a:bodyPr anchorCtr="0" anchor="t" bIns="87525" lIns="87525" spcFirstLastPara="1" rIns="87525" wrap="square" tIns="87525">
            <a:noAutofit/>
          </a:bodyPr>
          <a:lstStyle/>
          <a:p>
            <a:pPr indent="0" lvl="0" marL="0" rtl="0" algn="l">
              <a:spcBef>
                <a:spcPts val="0"/>
              </a:spcBef>
              <a:spcAft>
                <a:spcPts val="0"/>
              </a:spcAft>
              <a:buNone/>
            </a:pPr>
            <a:r>
              <a:rPr lang="en-US" sz="1435">
                <a:solidFill>
                  <a:srgbClr val="FFFFFF"/>
                </a:solidFill>
                <a:latin typeface="Roboto"/>
                <a:ea typeface="Roboto"/>
                <a:cs typeface="Roboto"/>
                <a:sym typeface="Roboto"/>
              </a:rPr>
              <a:t>RTL Design</a:t>
            </a:r>
            <a:endParaRPr sz="1435">
              <a:solidFill>
                <a:srgbClr val="FFFFFF"/>
              </a:solidFill>
              <a:latin typeface="Roboto"/>
              <a:ea typeface="Roboto"/>
              <a:cs typeface="Roboto"/>
              <a:sym typeface="Roboto"/>
            </a:endParaRPr>
          </a:p>
          <a:p>
            <a:pPr indent="0" lvl="0" marL="0" rtl="0" algn="ctr">
              <a:spcBef>
                <a:spcPts val="0"/>
              </a:spcBef>
              <a:spcAft>
                <a:spcPts val="0"/>
              </a:spcAft>
              <a:buNone/>
            </a:pPr>
            <a:r>
              <a:rPr lang="en-US" sz="1435">
                <a:solidFill>
                  <a:srgbClr val="FFFFFF"/>
                </a:solidFill>
                <a:latin typeface="Roboto"/>
                <a:ea typeface="Roboto"/>
                <a:cs typeface="Roboto"/>
                <a:sym typeface="Roboto"/>
              </a:rPr>
              <a:t>(Verilog)</a:t>
            </a:r>
            <a:endParaRPr sz="1435">
              <a:solidFill>
                <a:srgbClr val="FFFFFF"/>
              </a:solidFill>
              <a:latin typeface="Roboto"/>
              <a:ea typeface="Roboto"/>
              <a:cs typeface="Roboto"/>
              <a:sym typeface="Roboto"/>
            </a:endParaRPr>
          </a:p>
        </p:txBody>
      </p:sp>
      <p:sp>
        <p:nvSpPr>
          <p:cNvPr id="116" name="Google Shape;116;p2"/>
          <p:cNvSpPr txBox="1"/>
          <p:nvPr/>
        </p:nvSpPr>
        <p:spPr>
          <a:xfrm>
            <a:off x="1969690" y="2822563"/>
            <a:ext cx="1184100" cy="617100"/>
          </a:xfrm>
          <a:prstGeom prst="rect">
            <a:avLst/>
          </a:prstGeom>
          <a:noFill/>
          <a:ln>
            <a:noFill/>
          </a:ln>
        </p:spPr>
        <p:txBody>
          <a:bodyPr anchorCtr="0" anchor="t" bIns="87525" lIns="87525" spcFirstLastPara="1" rIns="87525" wrap="square" tIns="87525">
            <a:noAutofit/>
          </a:bodyPr>
          <a:lstStyle/>
          <a:p>
            <a:pPr indent="0" lvl="0" marL="0" rtl="0" algn="l">
              <a:spcBef>
                <a:spcPts val="0"/>
              </a:spcBef>
              <a:spcAft>
                <a:spcPts val="0"/>
              </a:spcAft>
              <a:buNone/>
            </a:pPr>
            <a:r>
              <a:rPr lang="en-US" sz="1435">
                <a:solidFill>
                  <a:srgbClr val="FFFFFF"/>
                </a:solidFill>
                <a:latin typeface="Roboto"/>
                <a:ea typeface="Roboto"/>
                <a:cs typeface="Roboto"/>
                <a:sym typeface="Roboto"/>
              </a:rPr>
              <a:t>Logic Synthesis</a:t>
            </a:r>
            <a:endParaRPr sz="1723">
              <a:solidFill>
                <a:srgbClr val="000000"/>
              </a:solidFill>
            </a:endParaRPr>
          </a:p>
        </p:txBody>
      </p:sp>
      <p:sp>
        <p:nvSpPr>
          <p:cNvPr id="117" name="Google Shape;117;p2"/>
          <p:cNvSpPr txBox="1"/>
          <p:nvPr/>
        </p:nvSpPr>
        <p:spPr>
          <a:xfrm>
            <a:off x="4831561" y="2866661"/>
            <a:ext cx="1184100" cy="727800"/>
          </a:xfrm>
          <a:prstGeom prst="rect">
            <a:avLst/>
          </a:prstGeom>
          <a:noFill/>
          <a:ln>
            <a:noFill/>
          </a:ln>
        </p:spPr>
        <p:txBody>
          <a:bodyPr anchorCtr="0" anchor="t" bIns="87525" lIns="87525" spcFirstLastPara="1" rIns="87525" wrap="square" tIns="87525">
            <a:noAutofit/>
          </a:bodyPr>
          <a:lstStyle/>
          <a:p>
            <a:pPr indent="0" lvl="0" marL="0" rtl="0" algn="l">
              <a:spcBef>
                <a:spcPts val="0"/>
              </a:spcBef>
              <a:spcAft>
                <a:spcPts val="0"/>
              </a:spcAft>
              <a:buNone/>
            </a:pPr>
            <a:r>
              <a:rPr lang="en-US" sz="1435">
                <a:solidFill>
                  <a:srgbClr val="FFFFFF"/>
                </a:solidFill>
                <a:latin typeface="Roboto"/>
                <a:ea typeface="Roboto"/>
                <a:cs typeface="Roboto"/>
                <a:sym typeface="Roboto"/>
              </a:rPr>
              <a:t>Clock Tree Synthesis</a:t>
            </a:r>
            <a:endParaRPr sz="1723">
              <a:solidFill>
                <a:srgbClr val="000000"/>
              </a:solidFill>
            </a:endParaRPr>
          </a:p>
        </p:txBody>
      </p:sp>
      <p:sp>
        <p:nvSpPr>
          <p:cNvPr id="118" name="Google Shape;118;p2"/>
          <p:cNvSpPr txBox="1"/>
          <p:nvPr/>
        </p:nvSpPr>
        <p:spPr>
          <a:xfrm>
            <a:off x="6290040" y="2966009"/>
            <a:ext cx="1184100" cy="330300"/>
          </a:xfrm>
          <a:prstGeom prst="rect">
            <a:avLst/>
          </a:prstGeom>
          <a:noFill/>
          <a:ln>
            <a:noFill/>
          </a:ln>
        </p:spPr>
        <p:txBody>
          <a:bodyPr anchorCtr="0" anchor="t" bIns="87525" lIns="87525" spcFirstLastPara="1" rIns="87525" wrap="square" tIns="87525">
            <a:noAutofit/>
          </a:bodyPr>
          <a:lstStyle/>
          <a:p>
            <a:pPr indent="0" lvl="0" marL="0" rtl="0" algn="l">
              <a:spcBef>
                <a:spcPts val="0"/>
              </a:spcBef>
              <a:spcAft>
                <a:spcPts val="0"/>
              </a:spcAft>
              <a:buNone/>
            </a:pPr>
            <a:r>
              <a:rPr lang="en-US" sz="1723">
                <a:solidFill>
                  <a:srgbClr val="FFFFFF"/>
                </a:solidFill>
                <a:latin typeface="Roboto"/>
                <a:ea typeface="Roboto"/>
                <a:cs typeface="Roboto"/>
                <a:sym typeface="Roboto"/>
              </a:rPr>
              <a:t>Routing</a:t>
            </a:r>
            <a:endParaRPr sz="2010">
              <a:solidFill>
                <a:srgbClr val="000000"/>
              </a:solidFill>
            </a:endParaRPr>
          </a:p>
        </p:txBody>
      </p:sp>
      <p:sp>
        <p:nvSpPr>
          <p:cNvPr id="119" name="Google Shape;119;p2"/>
          <p:cNvSpPr txBox="1"/>
          <p:nvPr/>
        </p:nvSpPr>
        <p:spPr>
          <a:xfrm>
            <a:off x="7643444" y="2966009"/>
            <a:ext cx="1299300" cy="426600"/>
          </a:xfrm>
          <a:prstGeom prst="rect">
            <a:avLst/>
          </a:prstGeom>
          <a:noFill/>
          <a:ln>
            <a:noFill/>
          </a:ln>
        </p:spPr>
        <p:txBody>
          <a:bodyPr anchorCtr="0" anchor="t" bIns="87525" lIns="87525" spcFirstLastPara="1" rIns="87525" wrap="square" tIns="87525">
            <a:noAutofit/>
          </a:bodyPr>
          <a:lstStyle/>
          <a:p>
            <a:pPr indent="0" lvl="0" marL="0" rtl="0" algn="l">
              <a:spcBef>
                <a:spcPts val="0"/>
              </a:spcBef>
              <a:spcAft>
                <a:spcPts val="0"/>
              </a:spcAft>
              <a:buNone/>
            </a:pPr>
            <a:r>
              <a:rPr lang="en-US" sz="1340">
                <a:solidFill>
                  <a:srgbClr val="FFFFFF"/>
                </a:solidFill>
                <a:latin typeface="Roboto"/>
                <a:ea typeface="Roboto"/>
                <a:cs typeface="Roboto"/>
                <a:sym typeface="Roboto"/>
              </a:rPr>
              <a:t>GDSII/Tapeout</a:t>
            </a:r>
            <a:endParaRPr sz="1627">
              <a:solidFill>
                <a:srgbClr val="000000"/>
              </a:solidFill>
            </a:endParaRPr>
          </a:p>
        </p:txBody>
      </p:sp>
      <p:sp>
        <p:nvSpPr>
          <p:cNvPr id="120" name="Google Shape;120;p2"/>
          <p:cNvSpPr/>
          <p:nvPr/>
        </p:nvSpPr>
        <p:spPr>
          <a:xfrm>
            <a:off x="1969680" y="3724948"/>
            <a:ext cx="6371676" cy="308003"/>
          </a:xfrm>
          <a:custGeom>
            <a:rect b="b" l="l" r="r" t="t"/>
            <a:pathLst>
              <a:path extrusionOk="0" h="12871" w="277512">
                <a:moveTo>
                  <a:pt x="0" y="0"/>
                </a:moveTo>
                <a:lnTo>
                  <a:pt x="0" y="12871"/>
                </a:lnTo>
                <a:lnTo>
                  <a:pt x="276997" y="12871"/>
                </a:lnTo>
                <a:lnTo>
                  <a:pt x="277512" y="2059"/>
                </a:lnTo>
              </a:path>
            </a:pathLst>
          </a:custGeom>
          <a:noFill/>
          <a:ln cap="flat" cmpd="sng" w="72925">
            <a:solidFill>
              <a:srgbClr val="1F497D"/>
            </a:solidFill>
            <a:prstDash val="solid"/>
            <a:round/>
            <a:headEnd len="med" w="med" type="none"/>
            <a:tailEnd len="med" w="med" type="none"/>
          </a:ln>
          <a:effectLst>
            <a:outerShdw blurRad="54708" rotWithShape="0" algn="bl" dir="5400000" dist="18236">
              <a:srgbClr val="000000">
                <a:alpha val="50000"/>
              </a:srgbClr>
            </a:outerShdw>
          </a:effectLst>
        </p:spPr>
      </p:sp>
      <p:cxnSp>
        <p:nvCxnSpPr>
          <p:cNvPr id="121" name="Google Shape;121;p2"/>
          <p:cNvCxnSpPr/>
          <p:nvPr/>
        </p:nvCxnSpPr>
        <p:spPr>
          <a:xfrm>
            <a:off x="5140850" y="4045293"/>
            <a:ext cx="4800" cy="143700"/>
          </a:xfrm>
          <a:prstGeom prst="straightConnector1">
            <a:avLst/>
          </a:prstGeom>
          <a:noFill/>
          <a:ln cap="flat" cmpd="sng" w="72925">
            <a:solidFill>
              <a:srgbClr val="1F497D"/>
            </a:solidFill>
            <a:prstDash val="solid"/>
            <a:round/>
            <a:headEnd len="med" w="med" type="none"/>
            <a:tailEnd len="med" w="med" type="none"/>
          </a:ln>
        </p:spPr>
      </p:cxnSp>
      <p:sp>
        <p:nvSpPr>
          <p:cNvPr id="122" name="Google Shape;122;p2"/>
          <p:cNvSpPr txBox="1"/>
          <p:nvPr/>
        </p:nvSpPr>
        <p:spPr>
          <a:xfrm>
            <a:off x="3943506" y="4163539"/>
            <a:ext cx="2370600" cy="308100"/>
          </a:xfrm>
          <a:prstGeom prst="rect">
            <a:avLst/>
          </a:prstGeom>
          <a:noFill/>
          <a:ln>
            <a:noFill/>
          </a:ln>
        </p:spPr>
        <p:txBody>
          <a:bodyPr anchorCtr="0" anchor="t" bIns="87525" lIns="87525" spcFirstLastPara="1" rIns="87525" wrap="square" tIns="87525">
            <a:noAutofit/>
          </a:bodyPr>
          <a:lstStyle/>
          <a:p>
            <a:pPr indent="0" lvl="0" marL="0" rtl="0" algn="l">
              <a:spcBef>
                <a:spcPts val="0"/>
              </a:spcBef>
              <a:spcAft>
                <a:spcPts val="0"/>
              </a:spcAft>
              <a:buNone/>
            </a:pPr>
            <a:r>
              <a:rPr b="1" lang="en-US" sz="1531">
                <a:solidFill>
                  <a:srgbClr val="073763"/>
                </a:solidFill>
              </a:rPr>
              <a:t>OpenROAD/OpenLane</a:t>
            </a:r>
            <a:endParaRPr b="1" sz="1531">
              <a:solidFill>
                <a:srgbClr val="07376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a8e056677d_0_0"/>
          <p:cNvSpPr txBox="1"/>
          <p:nvPr>
            <p:ph type="title"/>
          </p:nvPr>
        </p:nvSpPr>
        <p:spPr>
          <a:xfrm>
            <a:off x="457200" y="1049177"/>
            <a:ext cx="8229600" cy="80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System Overview</a:t>
            </a:r>
            <a:endParaRPr/>
          </a:p>
        </p:txBody>
      </p:sp>
      <p:pic>
        <p:nvPicPr>
          <p:cNvPr id="128" name="Google Shape;128;g3a8e056677d_0_0" title="full_datapath.png"/>
          <p:cNvPicPr preferRelativeResize="0"/>
          <p:nvPr/>
        </p:nvPicPr>
        <p:blipFill>
          <a:blip r:embed="rId3">
            <a:alphaModFix/>
          </a:blip>
          <a:stretch>
            <a:fillRect/>
          </a:stretch>
        </p:blipFill>
        <p:spPr>
          <a:xfrm>
            <a:off x="457200" y="2023896"/>
            <a:ext cx="8229601" cy="4545004"/>
          </a:xfrm>
          <a:prstGeom prst="rect">
            <a:avLst/>
          </a:prstGeom>
          <a:noFill/>
          <a:ln>
            <a:noFill/>
          </a:ln>
        </p:spPr>
      </p:pic>
      <p:sp>
        <p:nvSpPr>
          <p:cNvPr id="129" name="Google Shape;129;g3a8e056677d_0_0"/>
          <p:cNvSpPr/>
          <p:nvPr/>
        </p:nvSpPr>
        <p:spPr>
          <a:xfrm>
            <a:off x="993925" y="4110100"/>
            <a:ext cx="2202900" cy="2348700"/>
          </a:xfrm>
          <a:prstGeom prst="rect">
            <a:avLst/>
          </a:prstGeom>
          <a:noFill/>
          <a:ln cap="flat" cmpd="sng" w="2857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3a8e056677d_0_0"/>
          <p:cNvSpPr txBox="1"/>
          <p:nvPr/>
        </p:nvSpPr>
        <p:spPr>
          <a:xfrm>
            <a:off x="926925" y="3373575"/>
            <a:ext cx="1287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rgbClr val="FF0000"/>
                </a:solidFill>
              </a:rPr>
              <a:t>Kevin</a:t>
            </a:r>
            <a:endParaRPr sz="2500">
              <a:solidFill>
                <a:srgbClr val="FF0000"/>
              </a:solidFill>
            </a:endParaRPr>
          </a:p>
        </p:txBody>
      </p:sp>
      <p:sp>
        <p:nvSpPr>
          <p:cNvPr id="131" name="Google Shape;131;g3a8e056677d_0_0"/>
          <p:cNvSpPr/>
          <p:nvPr/>
        </p:nvSpPr>
        <p:spPr>
          <a:xfrm>
            <a:off x="6651550" y="3741825"/>
            <a:ext cx="1761000" cy="1774500"/>
          </a:xfrm>
          <a:prstGeom prst="rect">
            <a:avLst/>
          </a:prstGeom>
          <a:noFill/>
          <a:ln cap="flat" cmpd="sng" w="28575">
            <a:solidFill>
              <a:srgbClr val="FF00F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3a8e056677d_0_0"/>
          <p:cNvSpPr txBox="1"/>
          <p:nvPr/>
        </p:nvSpPr>
        <p:spPr>
          <a:xfrm>
            <a:off x="7120825" y="3144300"/>
            <a:ext cx="1761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rgbClr val="FF00FF"/>
                </a:solidFill>
              </a:rPr>
              <a:t>Giovani</a:t>
            </a:r>
            <a:endParaRPr sz="2500">
              <a:solidFill>
                <a:srgbClr val="FF00FF"/>
              </a:solidFill>
            </a:endParaRPr>
          </a:p>
        </p:txBody>
      </p:sp>
      <p:sp>
        <p:nvSpPr>
          <p:cNvPr id="133" name="Google Shape;133;g3a8e056677d_0_0"/>
          <p:cNvSpPr/>
          <p:nvPr/>
        </p:nvSpPr>
        <p:spPr>
          <a:xfrm>
            <a:off x="3196825" y="2400825"/>
            <a:ext cx="1761000" cy="2781900"/>
          </a:xfrm>
          <a:prstGeom prst="rect">
            <a:avLst/>
          </a:prstGeom>
          <a:noFill/>
          <a:ln cap="flat" cmpd="sng" w="28575">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3a8e056677d_0_0"/>
          <p:cNvSpPr txBox="1"/>
          <p:nvPr/>
        </p:nvSpPr>
        <p:spPr>
          <a:xfrm>
            <a:off x="5164750" y="2113850"/>
            <a:ext cx="1137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rgbClr val="0000FF"/>
                </a:solidFill>
              </a:rPr>
              <a:t>Githin</a:t>
            </a:r>
            <a:endParaRPr sz="2500">
              <a:solidFill>
                <a:srgbClr val="0000FF"/>
              </a:solidFill>
            </a:endParaRPr>
          </a:p>
        </p:txBody>
      </p:sp>
      <p:sp>
        <p:nvSpPr>
          <p:cNvPr id="135" name="Google Shape;135;g3a8e056677d_0_0"/>
          <p:cNvSpPr/>
          <p:nvPr/>
        </p:nvSpPr>
        <p:spPr>
          <a:xfrm>
            <a:off x="5064300" y="3828875"/>
            <a:ext cx="1480800" cy="1259700"/>
          </a:xfrm>
          <a:prstGeom prst="rect">
            <a:avLst/>
          </a:prstGeom>
          <a:noFill/>
          <a:ln cap="flat" cmpd="sng" w="28575">
            <a:solidFill>
              <a:srgbClr val="BF9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a8e056677d_0_0"/>
          <p:cNvSpPr/>
          <p:nvPr/>
        </p:nvSpPr>
        <p:spPr>
          <a:xfrm>
            <a:off x="3477050" y="5251900"/>
            <a:ext cx="1480800" cy="803700"/>
          </a:xfrm>
          <a:prstGeom prst="rect">
            <a:avLst/>
          </a:prstGeom>
          <a:noFill/>
          <a:ln cap="flat" cmpd="sng" w="28575">
            <a:solidFill>
              <a:srgbClr val="BF9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3a8e056677d_0_0"/>
          <p:cNvSpPr txBox="1"/>
          <p:nvPr/>
        </p:nvSpPr>
        <p:spPr>
          <a:xfrm>
            <a:off x="5160888" y="3144288"/>
            <a:ext cx="1287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rgbClr val="BF9000"/>
                </a:solidFill>
              </a:rPr>
              <a:t>Talha</a:t>
            </a:r>
            <a:endParaRPr sz="2500">
              <a:solidFill>
                <a:srgbClr val="BF9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ae2595d598_0_0"/>
          <p:cNvSpPr txBox="1"/>
          <p:nvPr>
            <p:ph type="title"/>
          </p:nvPr>
        </p:nvSpPr>
        <p:spPr>
          <a:xfrm>
            <a:off x="457200" y="1049177"/>
            <a:ext cx="8229600" cy="80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System Overview</a:t>
            </a:r>
            <a:endParaRPr/>
          </a:p>
        </p:txBody>
      </p:sp>
      <p:pic>
        <p:nvPicPr>
          <p:cNvPr id="143" name="Google Shape;143;g3ae2595d598_0_0" title="full_datapath.png"/>
          <p:cNvPicPr preferRelativeResize="0"/>
          <p:nvPr/>
        </p:nvPicPr>
        <p:blipFill>
          <a:blip r:embed="rId3">
            <a:alphaModFix/>
          </a:blip>
          <a:stretch>
            <a:fillRect/>
          </a:stretch>
        </p:blipFill>
        <p:spPr>
          <a:xfrm>
            <a:off x="457200" y="2023896"/>
            <a:ext cx="8229601" cy="4545004"/>
          </a:xfrm>
          <a:prstGeom prst="rect">
            <a:avLst/>
          </a:prstGeom>
          <a:noFill/>
          <a:ln>
            <a:noFill/>
          </a:ln>
        </p:spPr>
      </p:pic>
      <p:sp>
        <p:nvSpPr>
          <p:cNvPr id="144" name="Google Shape;144;g3ae2595d598_0_0"/>
          <p:cNvSpPr/>
          <p:nvPr/>
        </p:nvSpPr>
        <p:spPr>
          <a:xfrm>
            <a:off x="993925" y="4110100"/>
            <a:ext cx="2202900" cy="2348700"/>
          </a:xfrm>
          <a:prstGeom prst="rect">
            <a:avLst/>
          </a:prstGeom>
          <a:noFill/>
          <a:ln cap="flat" cmpd="sng" w="2857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g3ae2595d598_0_0"/>
          <p:cNvSpPr txBox="1"/>
          <p:nvPr/>
        </p:nvSpPr>
        <p:spPr>
          <a:xfrm>
            <a:off x="926925" y="3373575"/>
            <a:ext cx="1287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rgbClr val="FF0000"/>
                </a:solidFill>
              </a:rPr>
              <a:t>Kevin</a:t>
            </a:r>
            <a:endParaRPr sz="2500">
              <a:solidFill>
                <a:srgbClr val="FF0000"/>
              </a:solidFill>
            </a:endParaRPr>
          </a:p>
        </p:txBody>
      </p:sp>
      <p:sp>
        <p:nvSpPr>
          <p:cNvPr id="146" name="Google Shape;146;g3ae2595d598_0_0"/>
          <p:cNvSpPr/>
          <p:nvPr/>
        </p:nvSpPr>
        <p:spPr>
          <a:xfrm>
            <a:off x="5064300" y="3828875"/>
            <a:ext cx="1480800" cy="1259700"/>
          </a:xfrm>
          <a:prstGeom prst="rect">
            <a:avLst/>
          </a:prstGeom>
          <a:noFill/>
          <a:ln cap="flat" cmpd="sng" w="28575">
            <a:solidFill>
              <a:srgbClr val="BF9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g3ae2595d598_0_0"/>
          <p:cNvSpPr/>
          <p:nvPr/>
        </p:nvSpPr>
        <p:spPr>
          <a:xfrm>
            <a:off x="3477050" y="5251900"/>
            <a:ext cx="1480800" cy="803700"/>
          </a:xfrm>
          <a:prstGeom prst="rect">
            <a:avLst/>
          </a:prstGeom>
          <a:noFill/>
          <a:ln cap="flat" cmpd="sng" w="28575">
            <a:solidFill>
              <a:srgbClr val="BF9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3ae2595d598_0_0"/>
          <p:cNvSpPr txBox="1"/>
          <p:nvPr/>
        </p:nvSpPr>
        <p:spPr>
          <a:xfrm>
            <a:off x="5160888" y="3144288"/>
            <a:ext cx="1287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rgbClr val="BF9000"/>
                </a:solidFill>
              </a:rPr>
              <a:t>Talha</a:t>
            </a:r>
            <a:endParaRPr sz="2500">
              <a:solidFill>
                <a:srgbClr val="BF9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g3a5a4af3b0d_0_0" title="Screenshot 2025-09-23 at 3.17.06 PM.png"/>
          <p:cNvPicPr preferRelativeResize="0"/>
          <p:nvPr/>
        </p:nvPicPr>
        <p:blipFill>
          <a:blip r:embed="rId3">
            <a:alphaModFix/>
          </a:blip>
          <a:stretch>
            <a:fillRect/>
          </a:stretch>
        </p:blipFill>
        <p:spPr>
          <a:xfrm>
            <a:off x="5489275" y="1769500"/>
            <a:ext cx="3583474" cy="2055901"/>
          </a:xfrm>
          <a:prstGeom prst="rect">
            <a:avLst/>
          </a:prstGeom>
          <a:noFill/>
          <a:ln>
            <a:noFill/>
          </a:ln>
        </p:spPr>
      </p:pic>
      <p:sp>
        <p:nvSpPr>
          <p:cNvPr id="154" name="Google Shape;154;g3a5a4af3b0d_0_0"/>
          <p:cNvSpPr txBox="1"/>
          <p:nvPr>
            <p:ph type="title"/>
          </p:nvPr>
        </p:nvSpPr>
        <p:spPr>
          <a:xfrm>
            <a:off x="457200" y="1049177"/>
            <a:ext cx="8229600" cy="803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Helvetica Neue"/>
              <a:buNone/>
            </a:pPr>
            <a:r>
              <a:rPr b="1" i="0" lang="en-US" sz="3200" u="none" cap="none" strike="noStrike">
                <a:solidFill>
                  <a:schemeClr val="dk1"/>
                </a:solidFill>
                <a:latin typeface="Helvetica Neue"/>
                <a:ea typeface="Helvetica Neue"/>
                <a:cs typeface="Helvetica Neue"/>
                <a:sym typeface="Helvetica Neue"/>
              </a:rPr>
              <a:t>Project Summary</a:t>
            </a:r>
            <a:endParaRPr/>
          </a:p>
        </p:txBody>
      </p:sp>
      <p:sp>
        <p:nvSpPr>
          <p:cNvPr id="155" name="Google Shape;155;g3a5a4af3b0d_0_0"/>
          <p:cNvSpPr txBox="1"/>
          <p:nvPr>
            <p:ph idx="1" type="body"/>
          </p:nvPr>
        </p:nvSpPr>
        <p:spPr>
          <a:xfrm>
            <a:off x="224025" y="1801275"/>
            <a:ext cx="5592600" cy="29226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SzPts val="2400"/>
              <a:buNone/>
            </a:pPr>
            <a:r>
              <a:rPr b="0" i="0" lang="en-US" sz="2400" u="none" cap="none" strike="noStrike">
                <a:solidFill>
                  <a:schemeClr val="dk1"/>
                </a:solidFill>
                <a:latin typeface="Helvetica Neue"/>
                <a:ea typeface="Helvetica Neue"/>
                <a:cs typeface="Helvetica Neue"/>
                <a:sym typeface="Helvetica Neue"/>
              </a:rPr>
              <a:t>Problem statement</a:t>
            </a:r>
            <a:r>
              <a:rPr lang="en-US" sz="2400">
                <a:latin typeface="Helvetica Neue"/>
                <a:ea typeface="Helvetica Neue"/>
                <a:cs typeface="Helvetica Neue"/>
                <a:sym typeface="Helvetica Neue"/>
              </a:rPr>
              <a:t>:</a:t>
            </a:r>
            <a:endParaRPr/>
          </a:p>
          <a:p>
            <a:pPr indent="-355600" lvl="0" marL="457200" marR="0" rtl="0" algn="l">
              <a:lnSpc>
                <a:spcPct val="80000"/>
              </a:lnSpc>
              <a:spcBef>
                <a:spcPts val="0"/>
              </a:spcBef>
              <a:spcAft>
                <a:spcPts val="0"/>
              </a:spcAft>
              <a:buSzPts val="2000"/>
              <a:buFont typeface="Helvetica Neue"/>
              <a:buChar char="•"/>
            </a:pPr>
            <a:r>
              <a:rPr lang="en-US" sz="2000">
                <a:latin typeface="Helvetica Neue"/>
                <a:ea typeface="Helvetica Neue"/>
                <a:cs typeface="Helvetica Neue"/>
                <a:sym typeface="Helvetica Neue"/>
              </a:rPr>
              <a:t>Traditional RTL-to-GDSII chip design is expensive, creating a cost barrier to developing a System on a Chip (SoC).</a:t>
            </a:r>
            <a:endParaRPr sz="2000">
              <a:latin typeface="Helvetica Neue"/>
              <a:ea typeface="Helvetica Neue"/>
              <a:cs typeface="Helvetica Neue"/>
              <a:sym typeface="Helvetica Neue"/>
            </a:endParaRPr>
          </a:p>
          <a:p>
            <a:pPr indent="0" lvl="0" marL="342900" marR="0" rtl="0" algn="l">
              <a:lnSpc>
                <a:spcPct val="80000"/>
              </a:lnSpc>
              <a:spcBef>
                <a:spcPts val="0"/>
              </a:spcBef>
              <a:spcAft>
                <a:spcPts val="0"/>
              </a:spcAft>
              <a:buNone/>
            </a:pPr>
            <a:r>
              <a:t/>
            </a:r>
            <a:endParaRPr sz="2000">
              <a:latin typeface="Helvetica Neue"/>
              <a:ea typeface="Helvetica Neue"/>
              <a:cs typeface="Helvetica Neue"/>
              <a:sym typeface="Helvetica Neue"/>
            </a:endParaRPr>
          </a:p>
          <a:p>
            <a:pPr indent="0" lvl="0" marL="0" marR="0" rtl="0" algn="l">
              <a:lnSpc>
                <a:spcPct val="80000"/>
              </a:lnSpc>
              <a:spcBef>
                <a:spcPts val="0"/>
              </a:spcBef>
              <a:spcAft>
                <a:spcPts val="0"/>
              </a:spcAft>
              <a:buSzPts val="2400"/>
              <a:buNone/>
            </a:pPr>
            <a:r>
              <a:rPr lang="en-US" sz="2400">
                <a:latin typeface="Helvetica Neue"/>
                <a:ea typeface="Helvetica Neue"/>
                <a:cs typeface="Helvetica Neue"/>
                <a:sym typeface="Helvetica Neue"/>
              </a:rPr>
              <a:t>Our Solution:</a:t>
            </a:r>
            <a:endParaRPr/>
          </a:p>
          <a:p>
            <a:pPr indent="-355600" lvl="0" marL="457200" rtl="0" algn="l">
              <a:lnSpc>
                <a:spcPct val="80000"/>
              </a:lnSpc>
              <a:spcBef>
                <a:spcPts val="640"/>
              </a:spcBef>
              <a:spcAft>
                <a:spcPts val="0"/>
              </a:spcAft>
              <a:buSzPts val="2000"/>
              <a:buFont typeface="Helvetica Neue"/>
              <a:buChar char="•"/>
            </a:pPr>
            <a:r>
              <a:rPr lang="en-US" sz="2000">
                <a:latin typeface="Helvetica Neue"/>
                <a:ea typeface="Helvetica Neue"/>
                <a:cs typeface="Helvetica Neue"/>
                <a:sym typeface="Helvetica Neue"/>
              </a:rPr>
              <a:t>Create a 16-bit RISC-V using OpenROAD, which automates chip design by only needing only an RTL description to  generating GDSII, significantly reducing cost.</a:t>
            </a:r>
            <a:endParaRPr b="0" i="0" sz="2000" u="none" cap="none" strike="noStrike">
              <a:solidFill>
                <a:schemeClr val="dk1"/>
              </a:solidFill>
              <a:latin typeface="Helvetica Neue"/>
              <a:ea typeface="Helvetica Neue"/>
              <a:cs typeface="Helvetica Neue"/>
              <a:sym typeface="Helvetica Neue"/>
            </a:endParaRPr>
          </a:p>
        </p:txBody>
      </p:sp>
      <p:sp>
        <p:nvSpPr>
          <p:cNvPr id="156" name="Google Shape;156;g3a5a4af3b0d_0_0"/>
          <p:cNvSpPr txBox="1"/>
          <p:nvPr>
            <p:ph idx="12" type="sldNum"/>
          </p:nvPr>
        </p:nvSpPr>
        <p:spPr>
          <a:xfrm>
            <a:off x="6553200" y="6346725"/>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300"/>
              <a:buFont typeface="Arial"/>
              <a:buNone/>
            </a:pPr>
            <a:fld id="{00000000-1234-1234-1234-123412341234}" type="slidenum">
              <a:rPr b="0" i="0" lang="en-US" sz="1200" u="none" cap="none" strike="noStrike">
                <a:solidFill>
                  <a:srgbClr val="888888"/>
                </a:solidFill>
                <a:latin typeface="Arial"/>
                <a:ea typeface="Arial"/>
                <a:cs typeface="Arial"/>
                <a:sym typeface="Arial"/>
              </a:rPr>
              <a:t>‹#›</a:t>
            </a:fld>
            <a:endParaRPr b="0" i="0" sz="1200" u="none" cap="none" strike="noStrike">
              <a:solidFill>
                <a:srgbClr val="888888"/>
              </a:solidFill>
              <a:latin typeface="Arial"/>
              <a:ea typeface="Arial"/>
              <a:cs typeface="Arial"/>
              <a:sym typeface="Arial"/>
            </a:endParaRPr>
          </a:p>
        </p:txBody>
      </p:sp>
      <p:sp>
        <p:nvSpPr>
          <p:cNvPr id="157" name="Google Shape;157;g3a5a4af3b0d_0_0"/>
          <p:cNvSpPr/>
          <p:nvPr/>
        </p:nvSpPr>
        <p:spPr>
          <a:xfrm>
            <a:off x="6826592" y="4783383"/>
            <a:ext cx="1513200" cy="860100"/>
          </a:xfrm>
          <a:prstGeom prst="chevron">
            <a:avLst>
              <a:gd fmla="val 50000" name="adj"/>
            </a:avLst>
          </a:prstGeom>
          <a:solidFill>
            <a:srgbClr val="980000"/>
          </a:solidFill>
          <a:ln>
            <a:noFill/>
          </a:ln>
        </p:spPr>
        <p:txBody>
          <a:bodyPr anchorCtr="0" anchor="ctr" bIns="75450" lIns="75450" spcFirstLastPara="1" rIns="75450" wrap="square" tIns="75450">
            <a:noAutofit/>
          </a:bodyPr>
          <a:lstStyle/>
          <a:p>
            <a:pPr indent="0" lvl="0" marL="0" rtl="0" algn="ctr">
              <a:spcBef>
                <a:spcPts val="0"/>
              </a:spcBef>
              <a:spcAft>
                <a:spcPts val="0"/>
              </a:spcAft>
              <a:buNone/>
            </a:pPr>
            <a:r>
              <a:t/>
            </a:r>
            <a:endParaRPr sz="907">
              <a:solidFill>
                <a:srgbClr val="FFFFFF"/>
              </a:solidFill>
              <a:latin typeface="Roboto"/>
              <a:ea typeface="Roboto"/>
              <a:cs typeface="Roboto"/>
              <a:sym typeface="Roboto"/>
            </a:endParaRPr>
          </a:p>
        </p:txBody>
      </p:sp>
      <p:sp>
        <p:nvSpPr>
          <p:cNvPr id="158" name="Google Shape;158;g3a5a4af3b0d_0_0"/>
          <p:cNvSpPr/>
          <p:nvPr/>
        </p:nvSpPr>
        <p:spPr>
          <a:xfrm>
            <a:off x="3109739" y="4783383"/>
            <a:ext cx="1513200" cy="860100"/>
          </a:xfrm>
          <a:prstGeom prst="chevron">
            <a:avLst>
              <a:gd fmla="val 50000" name="adj"/>
            </a:avLst>
          </a:prstGeom>
          <a:solidFill>
            <a:srgbClr val="D83729"/>
          </a:solidFill>
          <a:ln>
            <a:noFill/>
          </a:ln>
        </p:spPr>
        <p:txBody>
          <a:bodyPr anchorCtr="0" anchor="ctr" bIns="75450" lIns="75450" spcFirstLastPara="1" rIns="75450" wrap="square" tIns="75450">
            <a:noAutofit/>
          </a:bodyPr>
          <a:lstStyle/>
          <a:p>
            <a:pPr indent="0" lvl="0" marL="0" rtl="0" algn="ctr">
              <a:spcBef>
                <a:spcPts val="0"/>
              </a:spcBef>
              <a:spcAft>
                <a:spcPts val="0"/>
              </a:spcAft>
              <a:buNone/>
            </a:pPr>
            <a:r>
              <a:t/>
            </a:r>
            <a:endParaRPr sz="907">
              <a:solidFill>
                <a:srgbClr val="FFFFFF"/>
              </a:solidFill>
              <a:latin typeface="Roboto"/>
              <a:ea typeface="Roboto"/>
              <a:cs typeface="Roboto"/>
              <a:sym typeface="Roboto"/>
            </a:endParaRPr>
          </a:p>
        </p:txBody>
      </p:sp>
      <p:sp>
        <p:nvSpPr>
          <p:cNvPr id="159" name="Google Shape;159;g3a5a4af3b0d_0_0"/>
          <p:cNvSpPr/>
          <p:nvPr/>
        </p:nvSpPr>
        <p:spPr>
          <a:xfrm>
            <a:off x="804073" y="4783667"/>
            <a:ext cx="1350900" cy="860100"/>
          </a:xfrm>
          <a:prstGeom prst="homePlate">
            <a:avLst>
              <a:gd fmla="val 50000" name="adj"/>
            </a:avLst>
          </a:prstGeom>
          <a:solidFill>
            <a:srgbClr val="801F17"/>
          </a:solidFill>
          <a:ln>
            <a:noFill/>
          </a:ln>
        </p:spPr>
        <p:txBody>
          <a:bodyPr anchorCtr="0" anchor="ctr" bIns="75450" lIns="75450" spcFirstLastPara="1" rIns="75450" wrap="square" tIns="75450">
            <a:noAutofit/>
          </a:bodyPr>
          <a:lstStyle/>
          <a:p>
            <a:pPr indent="0" lvl="0" marL="0" rtl="0" algn="ctr">
              <a:spcBef>
                <a:spcPts val="0"/>
              </a:spcBef>
              <a:spcAft>
                <a:spcPts val="0"/>
              </a:spcAft>
              <a:buNone/>
            </a:pPr>
            <a:r>
              <a:t/>
            </a:r>
            <a:endParaRPr sz="907">
              <a:solidFill>
                <a:srgbClr val="FFFFFF"/>
              </a:solidFill>
              <a:latin typeface="Roboto"/>
              <a:ea typeface="Roboto"/>
              <a:cs typeface="Roboto"/>
              <a:sym typeface="Roboto"/>
            </a:endParaRPr>
          </a:p>
        </p:txBody>
      </p:sp>
      <p:sp>
        <p:nvSpPr>
          <p:cNvPr id="160" name="Google Shape;160;g3a5a4af3b0d_0_0"/>
          <p:cNvSpPr/>
          <p:nvPr/>
        </p:nvSpPr>
        <p:spPr>
          <a:xfrm>
            <a:off x="1879028" y="4783383"/>
            <a:ext cx="1513200" cy="860100"/>
          </a:xfrm>
          <a:prstGeom prst="chevron">
            <a:avLst>
              <a:gd fmla="val 50000" name="adj"/>
            </a:avLst>
          </a:prstGeom>
          <a:solidFill>
            <a:srgbClr val="B02B20"/>
          </a:solidFill>
          <a:ln>
            <a:noFill/>
          </a:ln>
        </p:spPr>
        <p:txBody>
          <a:bodyPr anchorCtr="0" anchor="ctr" bIns="75450" lIns="75450" spcFirstLastPara="1" rIns="75450" wrap="square" tIns="75450">
            <a:noAutofit/>
          </a:bodyPr>
          <a:lstStyle/>
          <a:p>
            <a:pPr indent="0" lvl="0" marL="0" rtl="0" algn="ctr">
              <a:spcBef>
                <a:spcPts val="0"/>
              </a:spcBef>
              <a:spcAft>
                <a:spcPts val="0"/>
              </a:spcAft>
              <a:buNone/>
            </a:pPr>
            <a:r>
              <a:t/>
            </a:r>
            <a:endParaRPr sz="907">
              <a:solidFill>
                <a:srgbClr val="FFFFFF"/>
              </a:solidFill>
              <a:latin typeface="Roboto"/>
              <a:ea typeface="Roboto"/>
              <a:cs typeface="Roboto"/>
              <a:sym typeface="Roboto"/>
            </a:endParaRPr>
          </a:p>
        </p:txBody>
      </p:sp>
      <p:sp>
        <p:nvSpPr>
          <p:cNvPr id="161" name="Google Shape;161;g3a5a4af3b0d_0_0"/>
          <p:cNvSpPr/>
          <p:nvPr/>
        </p:nvSpPr>
        <p:spPr>
          <a:xfrm>
            <a:off x="5583515" y="4783527"/>
            <a:ext cx="1513200" cy="860100"/>
          </a:xfrm>
          <a:prstGeom prst="chevron">
            <a:avLst>
              <a:gd fmla="val 50000" name="adj"/>
            </a:avLst>
          </a:prstGeom>
          <a:solidFill>
            <a:srgbClr val="D83729"/>
          </a:solidFill>
          <a:ln>
            <a:noFill/>
          </a:ln>
        </p:spPr>
        <p:txBody>
          <a:bodyPr anchorCtr="0" anchor="ctr" bIns="75450" lIns="75450" spcFirstLastPara="1" rIns="75450" wrap="square" tIns="75450">
            <a:noAutofit/>
          </a:bodyPr>
          <a:lstStyle/>
          <a:p>
            <a:pPr indent="0" lvl="0" marL="0" rtl="0" algn="ctr">
              <a:spcBef>
                <a:spcPts val="0"/>
              </a:spcBef>
              <a:spcAft>
                <a:spcPts val="0"/>
              </a:spcAft>
              <a:buNone/>
            </a:pPr>
            <a:r>
              <a:t/>
            </a:r>
            <a:endParaRPr sz="907">
              <a:solidFill>
                <a:srgbClr val="FFFFFF"/>
              </a:solidFill>
              <a:latin typeface="Roboto"/>
              <a:ea typeface="Roboto"/>
              <a:cs typeface="Roboto"/>
              <a:sym typeface="Roboto"/>
            </a:endParaRPr>
          </a:p>
        </p:txBody>
      </p:sp>
      <p:sp>
        <p:nvSpPr>
          <p:cNvPr id="162" name="Google Shape;162;g3a5a4af3b0d_0_0"/>
          <p:cNvSpPr/>
          <p:nvPr/>
        </p:nvSpPr>
        <p:spPr>
          <a:xfrm>
            <a:off x="4352804" y="4783527"/>
            <a:ext cx="1513200" cy="860100"/>
          </a:xfrm>
          <a:prstGeom prst="chevron">
            <a:avLst>
              <a:gd fmla="val 50000" name="adj"/>
            </a:avLst>
          </a:prstGeom>
          <a:solidFill>
            <a:srgbClr val="B02B20"/>
          </a:solidFill>
          <a:ln>
            <a:noFill/>
          </a:ln>
        </p:spPr>
        <p:txBody>
          <a:bodyPr anchorCtr="0" anchor="ctr" bIns="75450" lIns="75450" spcFirstLastPara="1" rIns="75450" wrap="square" tIns="75450">
            <a:noAutofit/>
          </a:bodyPr>
          <a:lstStyle/>
          <a:p>
            <a:pPr indent="0" lvl="0" marL="0" rtl="0" algn="ctr">
              <a:spcBef>
                <a:spcPts val="0"/>
              </a:spcBef>
              <a:spcAft>
                <a:spcPts val="0"/>
              </a:spcAft>
              <a:buNone/>
            </a:pPr>
            <a:r>
              <a:t/>
            </a:r>
            <a:endParaRPr sz="907">
              <a:solidFill>
                <a:srgbClr val="FFFFFF"/>
              </a:solidFill>
              <a:latin typeface="Roboto"/>
              <a:ea typeface="Roboto"/>
              <a:cs typeface="Roboto"/>
              <a:sym typeface="Roboto"/>
            </a:endParaRPr>
          </a:p>
        </p:txBody>
      </p:sp>
      <p:sp>
        <p:nvSpPr>
          <p:cNvPr id="163" name="Google Shape;163;g3a5a4af3b0d_0_0"/>
          <p:cNvSpPr txBox="1"/>
          <p:nvPr/>
        </p:nvSpPr>
        <p:spPr>
          <a:xfrm>
            <a:off x="3523097" y="5038251"/>
            <a:ext cx="1020900" cy="284700"/>
          </a:xfrm>
          <a:prstGeom prst="rect">
            <a:avLst/>
          </a:prstGeom>
          <a:noFill/>
          <a:ln>
            <a:noFill/>
          </a:ln>
        </p:spPr>
        <p:txBody>
          <a:bodyPr anchorCtr="0" anchor="t" bIns="75450" lIns="75450" spcFirstLastPara="1" rIns="75450" wrap="square" tIns="75450">
            <a:noAutofit/>
          </a:bodyPr>
          <a:lstStyle/>
          <a:p>
            <a:pPr indent="0" lvl="0" marL="0" rtl="0" algn="l">
              <a:spcBef>
                <a:spcPts val="0"/>
              </a:spcBef>
              <a:spcAft>
                <a:spcPts val="0"/>
              </a:spcAft>
              <a:buNone/>
            </a:pPr>
            <a:r>
              <a:rPr lang="en-US" sz="1402">
                <a:solidFill>
                  <a:srgbClr val="FFFFFF"/>
                </a:solidFill>
                <a:latin typeface="Roboto"/>
                <a:ea typeface="Roboto"/>
                <a:cs typeface="Roboto"/>
                <a:sym typeface="Roboto"/>
              </a:rPr>
              <a:t>Placement</a:t>
            </a:r>
            <a:endParaRPr sz="1650">
              <a:solidFill>
                <a:srgbClr val="000000"/>
              </a:solidFill>
            </a:endParaRPr>
          </a:p>
        </p:txBody>
      </p:sp>
      <p:sp>
        <p:nvSpPr>
          <p:cNvPr id="164" name="Google Shape;164;g3a5a4af3b0d_0_0"/>
          <p:cNvSpPr txBox="1"/>
          <p:nvPr/>
        </p:nvSpPr>
        <p:spPr>
          <a:xfrm>
            <a:off x="905896" y="4967462"/>
            <a:ext cx="1020900" cy="367800"/>
          </a:xfrm>
          <a:prstGeom prst="rect">
            <a:avLst/>
          </a:prstGeom>
          <a:noFill/>
          <a:ln>
            <a:noFill/>
          </a:ln>
        </p:spPr>
        <p:txBody>
          <a:bodyPr anchorCtr="0" anchor="t" bIns="75450" lIns="75450" spcFirstLastPara="1" rIns="75450" wrap="square" tIns="75450">
            <a:noAutofit/>
          </a:bodyPr>
          <a:lstStyle/>
          <a:p>
            <a:pPr indent="0" lvl="0" marL="0" rtl="0" algn="l">
              <a:spcBef>
                <a:spcPts val="0"/>
              </a:spcBef>
              <a:spcAft>
                <a:spcPts val="0"/>
              </a:spcAft>
              <a:buNone/>
            </a:pPr>
            <a:r>
              <a:rPr lang="en-US" sz="1237">
                <a:solidFill>
                  <a:srgbClr val="FFFFFF"/>
                </a:solidFill>
                <a:latin typeface="Roboto"/>
                <a:ea typeface="Roboto"/>
                <a:cs typeface="Roboto"/>
                <a:sym typeface="Roboto"/>
              </a:rPr>
              <a:t>RTL Design</a:t>
            </a:r>
            <a:endParaRPr sz="1237">
              <a:solidFill>
                <a:srgbClr val="FFFFFF"/>
              </a:solidFill>
              <a:latin typeface="Roboto"/>
              <a:ea typeface="Roboto"/>
              <a:cs typeface="Roboto"/>
              <a:sym typeface="Roboto"/>
            </a:endParaRPr>
          </a:p>
          <a:p>
            <a:pPr indent="0" lvl="0" marL="0" rtl="0" algn="ctr">
              <a:spcBef>
                <a:spcPts val="0"/>
              </a:spcBef>
              <a:spcAft>
                <a:spcPts val="0"/>
              </a:spcAft>
              <a:buNone/>
            </a:pPr>
            <a:r>
              <a:rPr lang="en-US" sz="1237">
                <a:solidFill>
                  <a:srgbClr val="FFFFFF"/>
                </a:solidFill>
                <a:latin typeface="Roboto"/>
                <a:ea typeface="Roboto"/>
                <a:cs typeface="Roboto"/>
                <a:sym typeface="Roboto"/>
              </a:rPr>
              <a:t>(Verilog)</a:t>
            </a:r>
            <a:endParaRPr sz="1237">
              <a:solidFill>
                <a:srgbClr val="FFFFFF"/>
              </a:solidFill>
              <a:latin typeface="Roboto"/>
              <a:ea typeface="Roboto"/>
              <a:cs typeface="Roboto"/>
              <a:sym typeface="Roboto"/>
            </a:endParaRPr>
          </a:p>
        </p:txBody>
      </p:sp>
      <p:sp>
        <p:nvSpPr>
          <p:cNvPr id="165" name="Google Shape;165;g3a5a4af3b0d_0_0"/>
          <p:cNvSpPr txBox="1"/>
          <p:nvPr/>
        </p:nvSpPr>
        <p:spPr>
          <a:xfrm>
            <a:off x="2328584" y="4925213"/>
            <a:ext cx="1020900" cy="531900"/>
          </a:xfrm>
          <a:prstGeom prst="rect">
            <a:avLst/>
          </a:prstGeom>
          <a:noFill/>
          <a:ln>
            <a:noFill/>
          </a:ln>
        </p:spPr>
        <p:txBody>
          <a:bodyPr anchorCtr="0" anchor="t" bIns="75450" lIns="75450" spcFirstLastPara="1" rIns="75450" wrap="square" tIns="75450">
            <a:noAutofit/>
          </a:bodyPr>
          <a:lstStyle/>
          <a:p>
            <a:pPr indent="0" lvl="0" marL="0" rtl="0" algn="l">
              <a:spcBef>
                <a:spcPts val="0"/>
              </a:spcBef>
              <a:spcAft>
                <a:spcPts val="0"/>
              </a:spcAft>
              <a:buNone/>
            </a:pPr>
            <a:r>
              <a:rPr lang="en-US" sz="1237">
                <a:solidFill>
                  <a:srgbClr val="FFFFFF"/>
                </a:solidFill>
                <a:latin typeface="Roboto"/>
                <a:ea typeface="Roboto"/>
                <a:cs typeface="Roboto"/>
                <a:sym typeface="Roboto"/>
              </a:rPr>
              <a:t>Logic Synthesis</a:t>
            </a:r>
            <a:endParaRPr sz="1485">
              <a:solidFill>
                <a:srgbClr val="000000"/>
              </a:solidFill>
            </a:endParaRPr>
          </a:p>
        </p:txBody>
      </p:sp>
      <p:sp>
        <p:nvSpPr>
          <p:cNvPr id="166" name="Google Shape;166;g3a5a4af3b0d_0_0"/>
          <p:cNvSpPr txBox="1"/>
          <p:nvPr/>
        </p:nvSpPr>
        <p:spPr>
          <a:xfrm>
            <a:off x="4795705" y="4963229"/>
            <a:ext cx="1020900" cy="627300"/>
          </a:xfrm>
          <a:prstGeom prst="rect">
            <a:avLst/>
          </a:prstGeom>
          <a:noFill/>
          <a:ln>
            <a:noFill/>
          </a:ln>
        </p:spPr>
        <p:txBody>
          <a:bodyPr anchorCtr="0" anchor="t" bIns="75450" lIns="75450" spcFirstLastPara="1" rIns="75450" wrap="square" tIns="75450">
            <a:noAutofit/>
          </a:bodyPr>
          <a:lstStyle/>
          <a:p>
            <a:pPr indent="0" lvl="0" marL="0" rtl="0" algn="l">
              <a:spcBef>
                <a:spcPts val="0"/>
              </a:spcBef>
              <a:spcAft>
                <a:spcPts val="0"/>
              </a:spcAft>
              <a:buNone/>
            </a:pPr>
            <a:r>
              <a:rPr lang="en-US" sz="1237">
                <a:solidFill>
                  <a:srgbClr val="FFFFFF"/>
                </a:solidFill>
                <a:latin typeface="Roboto"/>
                <a:ea typeface="Roboto"/>
                <a:cs typeface="Roboto"/>
                <a:sym typeface="Roboto"/>
              </a:rPr>
              <a:t>Clock Tree Synthesis</a:t>
            </a:r>
            <a:endParaRPr sz="1485">
              <a:solidFill>
                <a:srgbClr val="000000"/>
              </a:solidFill>
            </a:endParaRPr>
          </a:p>
        </p:txBody>
      </p:sp>
      <p:sp>
        <p:nvSpPr>
          <p:cNvPr id="167" name="Google Shape;167;g3a5a4af3b0d_0_0"/>
          <p:cNvSpPr txBox="1"/>
          <p:nvPr/>
        </p:nvSpPr>
        <p:spPr>
          <a:xfrm>
            <a:off x="6053009" y="5048872"/>
            <a:ext cx="1020900" cy="284700"/>
          </a:xfrm>
          <a:prstGeom prst="rect">
            <a:avLst/>
          </a:prstGeom>
          <a:noFill/>
          <a:ln>
            <a:noFill/>
          </a:ln>
        </p:spPr>
        <p:txBody>
          <a:bodyPr anchorCtr="0" anchor="t" bIns="75450" lIns="75450" spcFirstLastPara="1" rIns="75450" wrap="square" tIns="75450">
            <a:noAutofit/>
          </a:bodyPr>
          <a:lstStyle/>
          <a:p>
            <a:pPr indent="0" lvl="0" marL="0" rtl="0" algn="l">
              <a:spcBef>
                <a:spcPts val="0"/>
              </a:spcBef>
              <a:spcAft>
                <a:spcPts val="0"/>
              </a:spcAft>
              <a:buNone/>
            </a:pPr>
            <a:r>
              <a:rPr lang="en-US" sz="1485">
                <a:solidFill>
                  <a:srgbClr val="FFFFFF"/>
                </a:solidFill>
                <a:latin typeface="Roboto"/>
                <a:ea typeface="Roboto"/>
                <a:cs typeface="Roboto"/>
                <a:sym typeface="Roboto"/>
              </a:rPr>
              <a:t>Routing</a:t>
            </a:r>
            <a:endParaRPr sz="1732">
              <a:solidFill>
                <a:srgbClr val="000000"/>
              </a:solidFill>
            </a:endParaRPr>
          </a:p>
        </p:txBody>
      </p:sp>
      <p:sp>
        <p:nvSpPr>
          <p:cNvPr id="168" name="Google Shape;168;g3a5a4af3b0d_0_0"/>
          <p:cNvSpPr txBox="1"/>
          <p:nvPr/>
        </p:nvSpPr>
        <p:spPr>
          <a:xfrm>
            <a:off x="7219732" y="5048872"/>
            <a:ext cx="1120200" cy="367800"/>
          </a:xfrm>
          <a:prstGeom prst="rect">
            <a:avLst/>
          </a:prstGeom>
          <a:noFill/>
          <a:ln>
            <a:noFill/>
          </a:ln>
        </p:spPr>
        <p:txBody>
          <a:bodyPr anchorCtr="0" anchor="t" bIns="75450" lIns="75450" spcFirstLastPara="1" rIns="75450" wrap="square" tIns="75450">
            <a:noAutofit/>
          </a:bodyPr>
          <a:lstStyle/>
          <a:p>
            <a:pPr indent="0" lvl="0" marL="0" rtl="0" algn="l">
              <a:spcBef>
                <a:spcPts val="0"/>
              </a:spcBef>
              <a:spcAft>
                <a:spcPts val="0"/>
              </a:spcAft>
              <a:buNone/>
            </a:pPr>
            <a:r>
              <a:rPr lang="en-US" sz="1155">
                <a:solidFill>
                  <a:srgbClr val="FFFFFF"/>
                </a:solidFill>
                <a:latin typeface="Roboto"/>
                <a:ea typeface="Roboto"/>
                <a:cs typeface="Roboto"/>
                <a:sym typeface="Roboto"/>
              </a:rPr>
              <a:t>GDSII/Tapeout</a:t>
            </a:r>
            <a:endParaRPr sz="1402">
              <a:solidFill>
                <a:srgbClr val="000000"/>
              </a:solidFill>
            </a:endParaRPr>
          </a:p>
        </p:txBody>
      </p:sp>
      <p:sp>
        <p:nvSpPr>
          <p:cNvPr id="169" name="Google Shape;169;g3a5a4af3b0d_0_0"/>
          <p:cNvSpPr/>
          <p:nvPr/>
        </p:nvSpPr>
        <p:spPr>
          <a:xfrm>
            <a:off x="2328575" y="5703125"/>
            <a:ext cx="5492656" cy="265529"/>
          </a:xfrm>
          <a:custGeom>
            <a:rect b="b" l="l" r="r" t="t"/>
            <a:pathLst>
              <a:path extrusionOk="0" h="12871" w="277512">
                <a:moveTo>
                  <a:pt x="0" y="0"/>
                </a:moveTo>
                <a:lnTo>
                  <a:pt x="0" y="12871"/>
                </a:lnTo>
                <a:lnTo>
                  <a:pt x="276997" y="12871"/>
                </a:lnTo>
                <a:lnTo>
                  <a:pt x="277512" y="2059"/>
                </a:lnTo>
              </a:path>
            </a:pathLst>
          </a:custGeom>
          <a:noFill/>
          <a:ln cap="flat" cmpd="sng" w="62875">
            <a:solidFill>
              <a:srgbClr val="1F497D"/>
            </a:solidFill>
            <a:prstDash val="solid"/>
            <a:round/>
            <a:headEnd len="med" w="med" type="none"/>
            <a:tailEnd len="med" w="med" type="none"/>
          </a:ln>
          <a:effectLst>
            <a:outerShdw blurRad="47161" rotWithShape="0" algn="bl" dir="5400000" dist="15720">
              <a:srgbClr val="000000">
                <a:alpha val="50000"/>
              </a:srgbClr>
            </a:outerShdw>
          </a:effectLst>
        </p:spPr>
      </p:sp>
      <p:cxnSp>
        <p:nvCxnSpPr>
          <p:cNvPr id="170" name="Google Shape;170;g3a5a4af3b0d_0_0"/>
          <p:cNvCxnSpPr/>
          <p:nvPr/>
        </p:nvCxnSpPr>
        <p:spPr>
          <a:xfrm>
            <a:off x="5062331" y="5979282"/>
            <a:ext cx="4200" cy="123900"/>
          </a:xfrm>
          <a:prstGeom prst="straightConnector1">
            <a:avLst/>
          </a:prstGeom>
          <a:noFill/>
          <a:ln cap="flat" cmpd="sng" w="62875">
            <a:solidFill>
              <a:srgbClr val="1F497D"/>
            </a:solidFill>
            <a:prstDash val="solid"/>
            <a:round/>
            <a:headEnd len="med" w="med" type="none"/>
            <a:tailEnd len="med" w="med" type="none"/>
          </a:ln>
        </p:spPr>
      </p:cxnSp>
      <p:sp>
        <p:nvSpPr>
          <p:cNvPr id="171" name="Google Shape;171;g3a5a4af3b0d_0_0"/>
          <p:cNvSpPr txBox="1"/>
          <p:nvPr/>
        </p:nvSpPr>
        <p:spPr>
          <a:xfrm>
            <a:off x="4030143" y="6081217"/>
            <a:ext cx="2043600" cy="265500"/>
          </a:xfrm>
          <a:prstGeom prst="rect">
            <a:avLst/>
          </a:prstGeom>
          <a:noFill/>
          <a:ln>
            <a:noFill/>
          </a:ln>
        </p:spPr>
        <p:txBody>
          <a:bodyPr anchorCtr="0" anchor="t" bIns="75450" lIns="75450" spcFirstLastPara="1" rIns="75450" wrap="square" tIns="75450">
            <a:noAutofit/>
          </a:bodyPr>
          <a:lstStyle/>
          <a:p>
            <a:pPr indent="0" lvl="0" marL="0" rtl="0" algn="l">
              <a:spcBef>
                <a:spcPts val="0"/>
              </a:spcBef>
              <a:spcAft>
                <a:spcPts val="0"/>
              </a:spcAft>
              <a:buNone/>
            </a:pPr>
            <a:r>
              <a:rPr b="1" lang="en-US" sz="1320">
                <a:solidFill>
                  <a:srgbClr val="073763"/>
                </a:solidFill>
              </a:rPr>
              <a:t>OpenROAD/OpenLane</a:t>
            </a:r>
            <a:endParaRPr b="1" sz="1320">
              <a:solidFill>
                <a:srgbClr val="07376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grpSp>
        <p:nvGrpSpPr>
          <p:cNvPr id="176" name="Google Shape;176;g3826238830a_2_15"/>
          <p:cNvGrpSpPr/>
          <p:nvPr/>
        </p:nvGrpSpPr>
        <p:grpSpPr>
          <a:xfrm>
            <a:off x="833375" y="1852875"/>
            <a:ext cx="7541952" cy="3888549"/>
            <a:chOff x="833375" y="1852875"/>
            <a:chExt cx="7541952" cy="3888549"/>
          </a:xfrm>
        </p:grpSpPr>
        <p:pic>
          <p:nvPicPr>
            <p:cNvPr id="177" name="Google Shape;177;g3826238830a_2_15" title="Screenshot 2025-09-23 at 12.01.02 PM.png"/>
            <p:cNvPicPr preferRelativeResize="0"/>
            <p:nvPr/>
          </p:nvPicPr>
          <p:blipFill>
            <a:blip r:embed="rId3">
              <a:alphaModFix/>
            </a:blip>
            <a:stretch>
              <a:fillRect/>
            </a:stretch>
          </p:blipFill>
          <p:spPr>
            <a:xfrm>
              <a:off x="833375" y="1852875"/>
              <a:ext cx="7541952" cy="3888549"/>
            </a:xfrm>
            <a:prstGeom prst="rect">
              <a:avLst/>
            </a:prstGeom>
            <a:noFill/>
            <a:ln>
              <a:noFill/>
            </a:ln>
          </p:spPr>
        </p:pic>
        <p:sp>
          <p:nvSpPr>
            <p:cNvPr id="178" name="Google Shape;178;g3826238830a_2_15"/>
            <p:cNvSpPr/>
            <p:nvPr/>
          </p:nvSpPr>
          <p:spPr>
            <a:xfrm>
              <a:off x="3570250" y="4910250"/>
              <a:ext cx="802500" cy="418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g3826238830a_2_15"/>
            <p:cNvSpPr/>
            <p:nvPr/>
          </p:nvSpPr>
          <p:spPr>
            <a:xfrm>
              <a:off x="1387375" y="3061150"/>
              <a:ext cx="270900" cy="1005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cxnSp>
          <p:nvCxnSpPr>
            <p:cNvPr id="180" name="Google Shape;180;g3826238830a_2_15"/>
            <p:cNvCxnSpPr/>
            <p:nvPr/>
          </p:nvCxnSpPr>
          <p:spPr>
            <a:xfrm>
              <a:off x="1117075" y="3631075"/>
              <a:ext cx="659400" cy="0"/>
            </a:xfrm>
            <a:prstGeom prst="straightConnector1">
              <a:avLst/>
            </a:prstGeom>
            <a:noFill/>
            <a:ln cap="flat" cmpd="sng" w="9525">
              <a:solidFill>
                <a:schemeClr val="dk2"/>
              </a:solidFill>
              <a:prstDash val="solid"/>
              <a:round/>
              <a:headEnd len="med" w="med" type="none"/>
              <a:tailEnd len="med" w="med" type="none"/>
            </a:ln>
          </p:spPr>
        </p:cxnSp>
        <p:sp>
          <p:nvSpPr>
            <p:cNvPr id="181" name="Google Shape;181;g3826238830a_2_15"/>
            <p:cNvSpPr/>
            <p:nvPr/>
          </p:nvSpPr>
          <p:spPr>
            <a:xfrm>
              <a:off x="3144550" y="3144400"/>
              <a:ext cx="456000" cy="418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2" name="Google Shape;182;g3826238830a_2_15"/>
            <p:cNvCxnSpPr/>
            <p:nvPr/>
          </p:nvCxnSpPr>
          <p:spPr>
            <a:xfrm flipH="1">
              <a:off x="4651550" y="3778400"/>
              <a:ext cx="180600" cy="2100"/>
            </a:xfrm>
            <a:prstGeom prst="straightConnector1">
              <a:avLst/>
            </a:prstGeom>
            <a:noFill/>
            <a:ln cap="flat" cmpd="sng" w="9525">
              <a:solidFill>
                <a:schemeClr val="dk1"/>
              </a:solidFill>
              <a:prstDash val="solid"/>
              <a:round/>
              <a:headEnd len="med" w="med" type="none"/>
              <a:tailEnd len="med" w="med" type="none"/>
            </a:ln>
          </p:spPr>
        </p:cxnSp>
        <p:pic>
          <p:nvPicPr>
            <p:cNvPr id="183" name="Google Shape;183;g3826238830a_2_15"/>
            <p:cNvPicPr preferRelativeResize="0"/>
            <p:nvPr/>
          </p:nvPicPr>
          <p:blipFill>
            <a:blip r:embed="rId4">
              <a:alphaModFix/>
            </a:blip>
            <a:stretch>
              <a:fillRect/>
            </a:stretch>
          </p:blipFill>
          <p:spPr>
            <a:xfrm>
              <a:off x="4938430" y="3164730"/>
              <a:ext cx="91500" cy="71625"/>
            </a:xfrm>
            <a:prstGeom prst="rect">
              <a:avLst/>
            </a:prstGeom>
            <a:noFill/>
            <a:ln>
              <a:noFill/>
            </a:ln>
          </p:spPr>
        </p:pic>
        <p:sp>
          <p:nvSpPr>
            <p:cNvPr id="184" name="Google Shape;184;g3826238830a_2_15"/>
            <p:cNvSpPr/>
            <p:nvPr/>
          </p:nvSpPr>
          <p:spPr>
            <a:xfrm>
              <a:off x="4651550" y="3388500"/>
              <a:ext cx="490200" cy="35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g3826238830a_2_15"/>
            <p:cNvSpPr/>
            <p:nvPr/>
          </p:nvSpPr>
          <p:spPr>
            <a:xfrm>
              <a:off x="4651550" y="3368625"/>
              <a:ext cx="425100" cy="657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g3826238830a_2_15"/>
            <p:cNvSpPr/>
            <p:nvPr/>
          </p:nvSpPr>
          <p:spPr>
            <a:xfrm>
              <a:off x="4645925" y="3338925"/>
              <a:ext cx="226800" cy="657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7" name="Google Shape;187;g3826238830a_2_15"/>
            <p:cNvCxnSpPr/>
            <p:nvPr/>
          </p:nvCxnSpPr>
          <p:spPr>
            <a:xfrm flipH="1">
              <a:off x="4651650" y="3359750"/>
              <a:ext cx="453000" cy="3447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188" name="Google Shape;188;g3826238830a_2_15"/>
            <p:cNvCxnSpPr/>
            <p:nvPr/>
          </p:nvCxnSpPr>
          <p:spPr>
            <a:xfrm flipH="1">
              <a:off x="4642325" y="3780500"/>
              <a:ext cx="456600" cy="310200"/>
            </a:xfrm>
            <a:prstGeom prst="bentConnector3">
              <a:avLst>
                <a:gd fmla="val 50000" name="adj1"/>
              </a:avLst>
            </a:prstGeom>
            <a:noFill/>
            <a:ln cap="flat" cmpd="sng" w="9525">
              <a:solidFill>
                <a:schemeClr val="dk1"/>
              </a:solidFill>
              <a:prstDash val="solid"/>
              <a:round/>
              <a:headEnd len="med" w="med" type="none"/>
              <a:tailEnd len="med" w="med" type="none"/>
            </a:ln>
          </p:spPr>
        </p:cxnSp>
        <p:sp>
          <p:nvSpPr>
            <p:cNvPr id="189" name="Google Shape;189;g3826238830a_2_15"/>
            <p:cNvSpPr/>
            <p:nvPr/>
          </p:nvSpPr>
          <p:spPr>
            <a:xfrm>
              <a:off x="4783250" y="3263325"/>
              <a:ext cx="226800" cy="75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0" name="Google Shape;190;g3826238830a_2_15"/>
            <p:cNvPicPr preferRelativeResize="0"/>
            <p:nvPr/>
          </p:nvPicPr>
          <p:blipFill>
            <a:blip r:embed="rId5">
              <a:alphaModFix/>
            </a:blip>
            <a:stretch>
              <a:fillRect/>
            </a:stretch>
          </p:blipFill>
          <p:spPr>
            <a:xfrm>
              <a:off x="4697825" y="3990850"/>
              <a:ext cx="123007" cy="75600"/>
            </a:xfrm>
            <a:prstGeom prst="rect">
              <a:avLst/>
            </a:prstGeom>
            <a:solidFill>
              <a:srgbClr val="FFFFFF"/>
            </a:solidFill>
            <a:ln>
              <a:noFill/>
            </a:ln>
          </p:spPr>
        </p:pic>
        <p:pic>
          <p:nvPicPr>
            <p:cNvPr id="191" name="Google Shape;191;g3826238830a_2_15"/>
            <p:cNvPicPr preferRelativeResize="0"/>
            <p:nvPr/>
          </p:nvPicPr>
          <p:blipFill>
            <a:blip r:embed="rId6">
              <a:alphaModFix/>
            </a:blip>
            <a:stretch>
              <a:fillRect/>
            </a:stretch>
          </p:blipFill>
          <p:spPr>
            <a:xfrm>
              <a:off x="4699875" y="3606600"/>
              <a:ext cx="118907" cy="75600"/>
            </a:xfrm>
            <a:prstGeom prst="rect">
              <a:avLst/>
            </a:prstGeom>
            <a:noFill/>
            <a:ln>
              <a:noFill/>
            </a:ln>
          </p:spPr>
        </p:pic>
      </p:grpSp>
      <p:sp>
        <p:nvSpPr>
          <p:cNvPr id="192" name="Google Shape;192;g3826238830a_2_15"/>
          <p:cNvSpPr txBox="1"/>
          <p:nvPr>
            <p:ph type="title"/>
          </p:nvPr>
        </p:nvSpPr>
        <p:spPr>
          <a:xfrm>
            <a:off x="457200" y="1049177"/>
            <a:ext cx="8229600" cy="803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System Overview</a:t>
            </a:r>
            <a:endParaRPr/>
          </a:p>
        </p:txBody>
      </p:sp>
      <p:cxnSp>
        <p:nvCxnSpPr>
          <p:cNvPr id="193" name="Google Shape;193;g3826238830a_2_15"/>
          <p:cNvCxnSpPr>
            <a:endCxn id="194" idx="0"/>
          </p:cNvCxnSpPr>
          <p:nvPr/>
        </p:nvCxnSpPr>
        <p:spPr>
          <a:xfrm flipH="1">
            <a:off x="5245925" y="5549950"/>
            <a:ext cx="3000" cy="540900"/>
          </a:xfrm>
          <a:prstGeom prst="straightConnector1">
            <a:avLst/>
          </a:prstGeom>
          <a:noFill/>
          <a:ln cap="flat" cmpd="sng" w="9525">
            <a:solidFill>
              <a:schemeClr val="dk2"/>
            </a:solidFill>
            <a:prstDash val="solid"/>
            <a:round/>
            <a:headEnd len="med" w="med" type="none"/>
            <a:tailEnd len="med" w="med" type="triangle"/>
          </a:ln>
        </p:spPr>
      </p:cxnSp>
      <p:cxnSp>
        <p:nvCxnSpPr>
          <p:cNvPr id="195" name="Google Shape;195;g3826238830a_2_15"/>
          <p:cNvCxnSpPr>
            <a:endCxn id="196" idx="0"/>
          </p:cNvCxnSpPr>
          <p:nvPr/>
        </p:nvCxnSpPr>
        <p:spPr>
          <a:xfrm flipH="1">
            <a:off x="3647900" y="5521750"/>
            <a:ext cx="38400" cy="553800"/>
          </a:xfrm>
          <a:prstGeom prst="straightConnector1">
            <a:avLst/>
          </a:prstGeom>
          <a:noFill/>
          <a:ln cap="flat" cmpd="sng" w="9525">
            <a:solidFill>
              <a:schemeClr val="dk2"/>
            </a:solidFill>
            <a:prstDash val="solid"/>
            <a:round/>
            <a:headEnd len="med" w="med" type="none"/>
            <a:tailEnd len="med" w="med" type="triangle"/>
          </a:ln>
        </p:spPr>
      </p:cxnSp>
      <p:cxnSp>
        <p:nvCxnSpPr>
          <p:cNvPr id="197" name="Google Shape;197;g3826238830a_2_15"/>
          <p:cNvCxnSpPr>
            <a:endCxn id="198" idx="0"/>
          </p:cNvCxnSpPr>
          <p:nvPr/>
        </p:nvCxnSpPr>
        <p:spPr>
          <a:xfrm flipH="1">
            <a:off x="1924925" y="5496250"/>
            <a:ext cx="31500" cy="579300"/>
          </a:xfrm>
          <a:prstGeom prst="straightConnector1">
            <a:avLst/>
          </a:prstGeom>
          <a:noFill/>
          <a:ln cap="flat" cmpd="sng" w="9525">
            <a:solidFill>
              <a:schemeClr val="dk2"/>
            </a:solidFill>
            <a:prstDash val="solid"/>
            <a:round/>
            <a:headEnd len="med" w="med" type="none"/>
            <a:tailEnd len="med" w="med" type="triangle"/>
          </a:ln>
        </p:spPr>
      </p:cxnSp>
      <p:cxnSp>
        <p:nvCxnSpPr>
          <p:cNvPr id="199" name="Google Shape;199;g3826238830a_2_15"/>
          <p:cNvCxnSpPr>
            <a:endCxn id="200" idx="0"/>
          </p:cNvCxnSpPr>
          <p:nvPr/>
        </p:nvCxnSpPr>
        <p:spPr>
          <a:xfrm>
            <a:off x="6669225" y="5521750"/>
            <a:ext cx="685800" cy="569100"/>
          </a:xfrm>
          <a:prstGeom prst="straightConnector1">
            <a:avLst/>
          </a:prstGeom>
          <a:noFill/>
          <a:ln cap="flat" cmpd="sng" w="9525">
            <a:solidFill>
              <a:schemeClr val="dk2"/>
            </a:solidFill>
            <a:prstDash val="solid"/>
            <a:round/>
            <a:headEnd len="med" w="med" type="none"/>
            <a:tailEnd len="med" w="med" type="triangle"/>
          </a:ln>
        </p:spPr>
      </p:cxnSp>
      <p:cxnSp>
        <p:nvCxnSpPr>
          <p:cNvPr id="201" name="Google Shape;201;g3826238830a_2_15"/>
          <p:cNvCxnSpPr>
            <a:endCxn id="200" idx="0"/>
          </p:cNvCxnSpPr>
          <p:nvPr/>
        </p:nvCxnSpPr>
        <p:spPr>
          <a:xfrm flipH="1">
            <a:off x="7355025" y="5521750"/>
            <a:ext cx="294900" cy="569100"/>
          </a:xfrm>
          <a:prstGeom prst="straightConnector1">
            <a:avLst/>
          </a:prstGeom>
          <a:noFill/>
          <a:ln cap="flat" cmpd="sng" w="9525">
            <a:solidFill>
              <a:schemeClr val="dk2"/>
            </a:solidFill>
            <a:prstDash val="solid"/>
            <a:round/>
            <a:headEnd len="med" w="med" type="none"/>
            <a:tailEnd len="med" w="med" type="triangle"/>
          </a:ln>
        </p:spPr>
      </p:cxnSp>
      <p:sp>
        <p:nvSpPr>
          <p:cNvPr id="196" name="Google Shape;196;g3826238830a_2_15"/>
          <p:cNvSpPr txBox="1"/>
          <p:nvPr/>
        </p:nvSpPr>
        <p:spPr>
          <a:xfrm>
            <a:off x="2923100" y="6075550"/>
            <a:ext cx="1449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chemeClr val="dk1"/>
                </a:solidFill>
              </a:rPr>
              <a:t>Githin</a:t>
            </a:r>
            <a:endParaRPr sz="3000">
              <a:solidFill>
                <a:schemeClr val="dk1"/>
              </a:solidFill>
            </a:endParaRPr>
          </a:p>
        </p:txBody>
      </p:sp>
      <p:sp>
        <p:nvSpPr>
          <p:cNvPr id="194" name="Google Shape;194;g3826238830a_2_15"/>
          <p:cNvSpPr txBox="1"/>
          <p:nvPr/>
        </p:nvSpPr>
        <p:spPr>
          <a:xfrm>
            <a:off x="4521125" y="6090850"/>
            <a:ext cx="1449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chemeClr val="dk1"/>
                </a:solidFill>
              </a:rPr>
              <a:t>Talha</a:t>
            </a:r>
            <a:endParaRPr sz="3000">
              <a:solidFill>
                <a:schemeClr val="dk1"/>
              </a:solidFill>
            </a:endParaRPr>
          </a:p>
        </p:txBody>
      </p:sp>
      <p:sp>
        <p:nvSpPr>
          <p:cNvPr id="198" name="Google Shape;198;g3826238830a_2_15"/>
          <p:cNvSpPr txBox="1"/>
          <p:nvPr/>
        </p:nvSpPr>
        <p:spPr>
          <a:xfrm>
            <a:off x="1200125" y="6075550"/>
            <a:ext cx="1449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chemeClr val="dk1"/>
                </a:solidFill>
              </a:rPr>
              <a:t>Kevin</a:t>
            </a:r>
            <a:endParaRPr sz="3000">
              <a:solidFill>
                <a:schemeClr val="dk1"/>
              </a:solidFill>
            </a:endParaRPr>
          </a:p>
        </p:txBody>
      </p:sp>
      <p:sp>
        <p:nvSpPr>
          <p:cNvPr id="200" name="Google Shape;200;g3826238830a_2_15"/>
          <p:cNvSpPr txBox="1"/>
          <p:nvPr/>
        </p:nvSpPr>
        <p:spPr>
          <a:xfrm>
            <a:off x="6417225" y="6090850"/>
            <a:ext cx="1875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chemeClr val="dk1"/>
                </a:solidFill>
              </a:rPr>
              <a:t>Giovani</a:t>
            </a:r>
            <a:endParaRPr sz="3000">
              <a:solidFill>
                <a:schemeClr val="dk1"/>
              </a:solidFill>
            </a:endParaRPr>
          </a:p>
        </p:txBody>
      </p:sp>
      <p:sp>
        <p:nvSpPr>
          <p:cNvPr id="202" name="Google Shape;202;g3826238830a_2_1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826238830a_0_18"/>
          <p:cNvSpPr txBox="1"/>
          <p:nvPr>
            <p:ph type="title"/>
          </p:nvPr>
        </p:nvSpPr>
        <p:spPr>
          <a:xfrm>
            <a:off x="457200" y="1049177"/>
            <a:ext cx="8229600" cy="80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Tools and Trade-offs</a:t>
            </a:r>
            <a:endParaRPr/>
          </a:p>
        </p:txBody>
      </p:sp>
      <p:sp>
        <p:nvSpPr>
          <p:cNvPr id="208" name="Google Shape;208;g3826238830a_0_1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aphicFrame>
        <p:nvGraphicFramePr>
          <p:cNvPr id="209" name="Google Shape;209;g3826238830a_0_18"/>
          <p:cNvGraphicFramePr/>
          <p:nvPr/>
        </p:nvGraphicFramePr>
        <p:xfrm>
          <a:off x="562425" y="1977150"/>
          <a:ext cx="3000000" cy="3000000"/>
        </p:xfrm>
        <a:graphic>
          <a:graphicData uri="http://schemas.openxmlformats.org/drawingml/2006/table">
            <a:tbl>
              <a:tblPr>
                <a:noFill/>
                <a:tableStyleId>{A3EB3828-E495-4C96-B313-28F9561C43D2}</a:tableStyleId>
              </a:tblPr>
              <a:tblGrid>
                <a:gridCol w="2646275"/>
                <a:gridCol w="2646275"/>
                <a:gridCol w="2646275"/>
              </a:tblGrid>
              <a:tr h="548375">
                <a:tc>
                  <a:txBody>
                    <a:bodyPr/>
                    <a:lstStyle/>
                    <a:p>
                      <a:pPr indent="0" lvl="0" marL="0" rtl="0" algn="ctr">
                        <a:spcBef>
                          <a:spcPts val="0"/>
                        </a:spcBef>
                        <a:spcAft>
                          <a:spcPts val="0"/>
                        </a:spcAft>
                        <a:buNone/>
                      </a:pPr>
                      <a:r>
                        <a:rPr b="1" lang="en-US"/>
                        <a:t>First Choice</a:t>
                      </a:r>
                      <a:endParaRPr b="1"/>
                    </a:p>
                  </a:txBody>
                  <a:tcPr marT="91425" marB="91425" marR="91425" marL="91425"/>
                </a:tc>
                <a:tc>
                  <a:txBody>
                    <a:bodyPr/>
                    <a:lstStyle/>
                    <a:p>
                      <a:pPr indent="0" lvl="0" marL="0" rtl="0" algn="ctr">
                        <a:spcBef>
                          <a:spcPts val="0"/>
                        </a:spcBef>
                        <a:spcAft>
                          <a:spcPts val="0"/>
                        </a:spcAft>
                        <a:buNone/>
                      </a:pPr>
                      <a:r>
                        <a:rPr b="1" lang="en-US"/>
                        <a:t>Second Choice</a:t>
                      </a:r>
                      <a:endParaRPr b="1"/>
                    </a:p>
                  </a:txBody>
                  <a:tcPr marT="91425" marB="91425" marR="91425" marL="91425"/>
                </a:tc>
                <a:tc>
                  <a:txBody>
                    <a:bodyPr/>
                    <a:lstStyle/>
                    <a:p>
                      <a:pPr indent="0" lvl="0" marL="0" rtl="0" algn="ctr">
                        <a:spcBef>
                          <a:spcPts val="0"/>
                        </a:spcBef>
                        <a:spcAft>
                          <a:spcPts val="0"/>
                        </a:spcAft>
                        <a:buNone/>
                      </a:pPr>
                      <a:r>
                        <a:rPr b="1" lang="en-US"/>
                        <a:t>Reasoning</a:t>
                      </a:r>
                      <a:endParaRPr b="1"/>
                    </a:p>
                  </a:txBody>
                  <a:tcPr marT="91425" marB="91425" marR="91425" marL="91425"/>
                </a:tc>
              </a:tr>
              <a:tr h="1138975">
                <a:tc>
                  <a:txBody>
                    <a:bodyPr/>
                    <a:lstStyle/>
                    <a:p>
                      <a:pPr indent="0" lvl="0" marL="0" rtl="0" algn="ctr">
                        <a:spcBef>
                          <a:spcPts val="0"/>
                        </a:spcBef>
                        <a:spcAft>
                          <a:spcPts val="0"/>
                        </a:spcAft>
                        <a:buNone/>
                      </a:pPr>
                      <a:r>
                        <a:rPr b="1" lang="en-US"/>
                        <a:t>OpenROAD</a:t>
                      </a:r>
                      <a:endParaRPr b="1"/>
                    </a:p>
                  </a:txBody>
                  <a:tcPr marT="91425" marB="91425" marR="91425" marL="91425" anchor="ctr"/>
                </a:tc>
                <a:tc>
                  <a:txBody>
                    <a:bodyPr/>
                    <a:lstStyle/>
                    <a:p>
                      <a:pPr indent="0" lvl="0" marL="0" rtl="0" algn="ctr">
                        <a:spcBef>
                          <a:spcPts val="0"/>
                        </a:spcBef>
                        <a:spcAft>
                          <a:spcPts val="0"/>
                        </a:spcAft>
                        <a:buNone/>
                      </a:pPr>
                      <a:r>
                        <a:rPr lang="en-US"/>
                        <a:t>Licensed</a:t>
                      </a:r>
                      <a:r>
                        <a:rPr lang="en-US"/>
                        <a:t> EDA tools</a:t>
                      </a:r>
                      <a:endParaRPr/>
                    </a:p>
                  </a:txBody>
                  <a:tcPr marT="91425" marB="91425" marR="91425" marL="91425" anchor="ctr"/>
                </a:tc>
                <a:tc>
                  <a:txBody>
                    <a:bodyPr/>
                    <a:lstStyle/>
                    <a:p>
                      <a:pPr indent="0" lvl="0" marL="0" rtl="0" algn="l">
                        <a:spcBef>
                          <a:spcPts val="0"/>
                        </a:spcBef>
                        <a:spcAft>
                          <a:spcPts val="0"/>
                        </a:spcAft>
                        <a:buNone/>
                      </a:pPr>
                      <a:r>
                        <a:rPr lang="en-US"/>
                        <a:t>OpenROAD is open-source and automated, providing a free and fast design flow. We also save money on </a:t>
                      </a:r>
                      <a:r>
                        <a:rPr lang="en-US"/>
                        <a:t>licensing</a:t>
                      </a:r>
                      <a:r>
                        <a:rPr lang="en-US"/>
                        <a:t>. </a:t>
                      </a:r>
                      <a:endParaRPr/>
                    </a:p>
                  </a:txBody>
                  <a:tcPr marT="91425" marB="91425" marR="91425" marL="91425"/>
                </a:tc>
              </a:tr>
              <a:tr h="843650">
                <a:tc>
                  <a:txBody>
                    <a:bodyPr/>
                    <a:lstStyle/>
                    <a:p>
                      <a:pPr indent="0" lvl="0" marL="0" rtl="0" algn="ctr">
                        <a:spcBef>
                          <a:spcPts val="0"/>
                        </a:spcBef>
                        <a:spcAft>
                          <a:spcPts val="0"/>
                        </a:spcAft>
                        <a:buNone/>
                      </a:pPr>
                      <a:r>
                        <a:rPr b="1" lang="en-US"/>
                        <a:t>Single</a:t>
                      </a:r>
                      <a:r>
                        <a:rPr b="1" lang="en-US">
                          <a:solidFill>
                            <a:schemeClr val="dk1"/>
                          </a:solidFill>
                        </a:rPr>
                        <a:t>-Cycle</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en-US">
                          <a:solidFill>
                            <a:schemeClr val="dk1"/>
                          </a:solidFill>
                        </a:rPr>
                        <a:t>Pipelining</a:t>
                      </a:r>
                      <a:endParaRPr/>
                    </a:p>
                  </a:txBody>
                  <a:tcPr marT="91425" marB="91425" marR="91425" marL="91425" anchor="ctr"/>
                </a:tc>
                <a:tc>
                  <a:txBody>
                    <a:bodyPr/>
                    <a:lstStyle/>
                    <a:p>
                      <a:pPr indent="0" lvl="0" marL="0" rtl="0" algn="l">
                        <a:spcBef>
                          <a:spcPts val="0"/>
                        </a:spcBef>
                        <a:spcAft>
                          <a:spcPts val="0"/>
                        </a:spcAft>
                        <a:buNone/>
                      </a:pPr>
                      <a:r>
                        <a:rPr lang="en-US"/>
                        <a:t>Lower power consumption, better to implement due to 16-bit restriction, and takes </a:t>
                      </a:r>
                      <a:r>
                        <a:rPr lang="en-US"/>
                        <a:t>less space.</a:t>
                      </a:r>
                      <a:endParaRPr/>
                    </a:p>
                  </a:txBody>
                  <a:tcPr marT="91425" marB="91425" marR="91425" marL="91425"/>
                </a:tc>
              </a:tr>
              <a:tr h="843650">
                <a:tc>
                  <a:txBody>
                    <a:bodyPr/>
                    <a:lstStyle/>
                    <a:p>
                      <a:pPr indent="0" lvl="0" marL="0" rtl="0" algn="ctr">
                        <a:spcBef>
                          <a:spcPts val="0"/>
                        </a:spcBef>
                        <a:spcAft>
                          <a:spcPts val="0"/>
                        </a:spcAft>
                        <a:buNone/>
                      </a:pPr>
                      <a:r>
                        <a:rPr b="1" lang="en-US"/>
                        <a:t>Verilog</a:t>
                      </a:r>
                      <a:endParaRPr b="1"/>
                    </a:p>
                  </a:txBody>
                  <a:tcPr marT="91425" marB="91425" marR="91425" marL="91425" anchor="ctr"/>
                </a:tc>
                <a:tc>
                  <a:txBody>
                    <a:bodyPr/>
                    <a:lstStyle/>
                    <a:p>
                      <a:pPr indent="0" lvl="0" marL="0" rtl="0" algn="ctr">
                        <a:spcBef>
                          <a:spcPts val="0"/>
                        </a:spcBef>
                        <a:spcAft>
                          <a:spcPts val="0"/>
                        </a:spcAft>
                        <a:buNone/>
                      </a:pPr>
                      <a:r>
                        <a:rPr lang="en-US"/>
                        <a:t>VHDL</a:t>
                      </a:r>
                      <a:endParaRPr/>
                    </a:p>
                  </a:txBody>
                  <a:tcPr marT="91425" marB="91425" marR="91425" marL="91425" anchor="ctr"/>
                </a:tc>
                <a:tc>
                  <a:txBody>
                    <a:bodyPr/>
                    <a:lstStyle/>
                    <a:p>
                      <a:pPr indent="0" lvl="0" marL="0" rtl="0" algn="l">
                        <a:spcBef>
                          <a:spcPts val="0"/>
                        </a:spcBef>
                        <a:spcAft>
                          <a:spcPts val="0"/>
                        </a:spcAft>
                        <a:buNone/>
                      </a:pPr>
                      <a:r>
                        <a:rPr lang="en-US"/>
                        <a:t>Verilog is the recommended tool by OpenROAD and is </a:t>
                      </a:r>
                      <a:r>
                        <a:rPr lang="en-US"/>
                        <a:t>popular</a:t>
                      </a:r>
                      <a:r>
                        <a:rPr lang="en-US"/>
                        <a:t> </a:t>
                      </a:r>
                      <a:r>
                        <a:rPr lang="en-US"/>
                        <a:t>amongst</a:t>
                      </a:r>
                      <a:r>
                        <a:rPr lang="en-US"/>
                        <a:t> VLSI Design</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4" title="Screenshot 2025-09-23 at 12.01.02 PM.png"/>
          <p:cNvPicPr preferRelativeResize="0"/>
          <p:nvPr/>
        </p:nvPicPr>
        <p:blipFill rotWithShape="1">
          <a:blip r:embed="rId3">
            <a:alphaModFix/>
          </a:blip>
          <a:srcRect b="0" l="0" r="72784" t="0"/>
          <a:stretch/>
        </p:blipFill>
        <p:spPr>
          <a:xfrm>
            <a:off x="5854900" y="1902150"/>
            <a:ext cx="2338801" cy="4645374"/>
          </a:xfrm>
          <a:prstGeom prst="rect">
            <a:avLst/>
          </a:prstGeom>
          <a:noFill/>
          <a:ln>
            <a:noFill/>
          </a:ln>
        </p:spPr>
      </p:pic>
      <p:sp>
        <p:nvSpPr>
          <p:cNvPr id="215" name="Google Shape;215;p4"/>
          <p:cNvSpPr txBox="1"/>
          <p:nvPr>
            <p:ph type="title"/>
          </p:nvPr>
        </p:nvSpPr>
        <p:spPr>
          <a:xfrm>
            <a:off x="457200" y="1098452"/>
            <a:ext cx="8229600" cy="803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US"/>
              <a:t>Fetch – </a:t>
            </a:r>
            <a:r>
              <a:rPr lang="en-US"/>
              <a:t>Kevin Umanzor</a:t>
            </a:r>
            <a:endParaRPr/>
          </a:p>
        </p:txBody>
      </p:sp>
      <p:sp>
        <p:nvSpPr>
          <p:cNvPr id="216" name="Google Shape;216;p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350"/>
              <a:buFont typeface="Arial"/>
              <a:buNone/>
            </a:pPr>
            <a:fld id="{00000000-1234-1234-1234-123412341234}" type="slidenum">
              <a:rPr lang="en-US"/>
              <a:t>‹#›</a:t>
            </a:fld>
            <a:endParaRPr/>
          </a:p>
        </p:txBody>
      </p:sp>
      <p:sp>
        <p:nvSpPr>
          <p:cNvPr id="217" name="Google Shape;217;p4"/>
          <p:cNvSpPr txBox="1"/>
          <p:nvPr>
            <p:ph idx="1" type="body"/>
          </p:nvPr>
        </p:nvSpPr>
        <p:spPr>
          <a:xfrm>
            <a:off x="457200" y="2033025"/>
            <a:ext cx="4920000" cy="4514400"/>
          </a:xfrm>
          <a:prstGeom prst="rect">
            <a:avLst/>
          </a:prstGeom>
          <a:noFill/>
          <a:ln>
            <a:noFill/>
          </a:ln>
        </p:spPr>
        <p:txBody>
          <a:bodyPr anchorCtr="0" anchor="t" bIns="91425" lIns="91425" spcFirstLastPara="1" rIns="91425" wrap="square" tIns="91425">
            <a:noAutofit/>
          </a:bodyPr>
          <a:lstStyle/>
          <a:p>
            <a:pPr indent="-387350" lvl="0" marL="457200" rtl="0" algn="l">
              <a:spcBef>
                <a:spcPts val="0"/>
              </a:spcBef>
              <a:spcAft>
                <a:spcPts val="0"/>
              </a:spcAft>
              <a:buSzPts val="1900"/>
              <a:buChar char="•"/>
            </a:pPr>
            <a:r>
              <a:rPr lang="en-US" sz="1900"/>
              <a:t>What does the subsystem do?</a:t>
            </a:r>
            <a:endParaRPr sz="1900"/>
          </a:p>
          <a:p>
            <a:pPr indent="0" lvl="0" marL="457200" rtl="0" algn="l">
              <a:spcBef>
                <a:spcPts val="0"/>
              </a:spcBef>
              <a:spcAft>
                <a:spcPts val="0"/>
              </a:spcAft>
              <a:buNone/>
            </a:pPr>
            <a:r>
              <a:rPr lang="en-US" sz="1900"/>
              <a:t>-Retrieves the next instruction set from main memory (RAM) or data using the Program Counter (PC) and stores it in an internal register for processing.</a:t>
            </a:r>
            <a:br>
              <a:rPr lang="en-US" sz="1900"/>
            </a:br>
            <a:r>
              <a:rPr lang="en-US" sz="1900"/>
              <a:t>-Updates the PC counter to point to the next instruction.</a:t>
            </a:r>
            <a:br>
              <a:rPr lang="en-US" sz="1900"/>
            </a:br>
            <a:endParaRPr sz="1900"/>
          </a:p>
          <a:p>
            <a:pPr indent="-387350" lvl="0" marL="457200" rtl="0" algn="l">
              <a:spcBef>
                <a:spcPts val="0"/>
              </a:spcBef>
              <a:spcAft>
                <a:spcPts val="0"/>
              </a:spcAft>
              <a:buSzPts val="1900"/>
              <a:buChar char="•"/>
            </a:pPr>
            <a:r>
              <a:rPr lang="en-US" sz="1900"/>
              <a:t>Connections with other subsystems</a:t>
            </a:r>
            <a:endParaRPr sz="1900"/>
          </a:p>
          <a:p>
            <a:pPr indent="0" lvl="0" marL="457200" rtl="0" algn="l">
              <a:spcBef>
                <a:spcPts val="0"/>
              </a:spcBef>
              <a:spcAft>
                <a:spcPts val="0"/>
              </a:spcAft>
              <a:buClr>
                <a:schemeClr val="dk1"/>
              </a:buClr>
              <a:buSzPts val="1100"/>
              <a:buFont typeface="Arial"/>
              <a:buNone/>
            </a:pPr>
            <a:r>
              <a:rPr lang="en-US" sz="1900"/>
              <a:t>-</a:t>
            </a:r>
            <a:r>
              <a:rPr lang="en-US" sz="1900"/>
              <a:t>Takes instruction from the Execute stage and works with control logic to handle sequential and branch instructions.</a:t>
            </a:r>
            <a:endParaRPr sz="1900"/>
          </a:p>
          <a:p>
            <a:pPr indent="0" lvl="0" marL="0" rtl="0" algn="l">
              <a:lnSpc>
                <a:spcPct val="100000"/>
              </a:lnSpc>
              <a:spcBef>
                <a:spcPts val="0"/>
              </a:spcBef>
              <a:spcAft>
                <a:spcPts val="0"/>
              </a:spcAft>
              <a:buNone/>
            </a:pPr>
            <a:r>
              <a:t/>
            </a:r>
            <a:endParaRPr sz="1900"/>
          </a:p>
        </p:txBody>
      </p:sp>
      <p:sp>
        <p:nvSpPr>
          <p:cNvPr id="218" name="Google Shape;218;p4"/>
          <p:cNvSpPr/>
          <p:nvPr/>
        </p:nvSpPr>
        <p:spPr>
          <a:xfrm>
            <a:off x="6521117" y="3441908"/>
            <a:ext cx="288600" cy="960000"/>
          </a:xfrm>
          <a:prstGeom prst="rect">
            <a:avLst/>
          </a:prstGeom>
          <a:solidFill>
            <a:srgbClr val="FFFFFF"/>
          </a:solidFill>
          <a:ln cap="flat" cmpd="sng" w="11375">
            <a:solidFill>
              <a:srgbClr val="FFFFFF"/>
            </a:solidFill>
            <a:prstDash val="solid"/>
            <a:round/>
            <a:headEnd len="sm" w="sm" type="none"/>
            <a:tailEnd len="sm" w="sm" type="none"/>
          </a:ln>
        </p:spPr>
        <p:txBody>
          <a:bodyPr anchorCtr="0" anchor="ctr" bIns="109225" lIns="109225" spcFirstLastPara="1" rIns="109225" wrap="square" tIns="109225">
            <a:noAutofit/>
          </a:bodyPr>
          <a:lstStyle/>
          <a:p>
            <a:pPr indent="0" lvl="0" marL="0" rtl="0" algn="ctr">
              <a:spcBef>
                <a:spcPts val="0"/>
              </a:spcBef>
              <a:spcAft>
                <a:spcPts val="0"/>
              </a:spcAft>
              <a:buNone/>
            </a:pPr>
            <a:r>
              <a:t/>
            </a:r>
            <a:endParaRPr sz="1672"/>
          </a:p>
        </p:txBody>
      </p:sp>
      <p:cxnSp>
        <p:nvCxnSpPr>
          <p:cNvPr id="219" name="Google Shape;219;p4"/>
          <p:cNvCxnSpPr/>
          <p:nvPr/>
        </p:nvCxnSpPr>
        <p:spPr>
          <a:xfrm>
            <a:off x="6182639" y="4023185"/>
            <a:ext cx="776100" cy="0"/>
          </a:xfrm>
          <a:prstGeom prst="straightConnector1">
            <a:avLst/>
          </a:prstGeom>
          <a:noFill/>
          <a:ln cap="flat" cmpd="sng" w="11375">
            <a:solidFill>
              <a:srgbClr val="000000"/>
            </a:solidFill>
            <a:prstDash val="solid"/>
            <a:round/>
            <a:headEnd len="med" w="med" type="none"/>
            <a:tailEnd len="med" w="med" type="none"/>
          </a:ln>
        </p:spPr>
      </p:cxnSp>
      <p:sp>
        <p:nvSpPr>
          <p:cNvPr id="220" name="Google Shape;220;p4"/>
          <p:cNvSpPr/>
          <p:nvPr/>
        </p:nvSpPr>
        <p:spPr>
          <a:xfrm>
            <a:off x="7018325" y="3300575"/>
            <a:ext cx="246600" cy="222300"/>
          </a:xfrm>
          <a:prstGeom prst="rect">
            <a:avLst/>
          </a:prstGeom>
          <a:solidFill>
            <a:srgbClr val="0171C4"/>
          </a:solidFill>
          <a:ln cap="flat" cmpd="sng" w="9525">
            <a:solidFill>
              <a:srgbClr val="0171C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4"/>
          <p:cNvSpPr txBox="1"/>
          <p:nvPr/>
        </p:nvSpPr>
        <p:spPr>
          <a:xfrm>
            <a:off x="6984475" y="3266675"/>
            <a:ext cx="404700" cy="29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lt1"/>
                </a:solidFill>
              </a:rPr>
              <a:t>+2</a:t>
            </a:r>
            <a:endParaRPr sz="9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5"/>
          <p:cNvPicPr preferRelativeResize="0"/>
          <p:nvPr/>
        </p:nvPicPr>
        <p:blipFill>
          <a:blip r:embed="rId3">
            <a:alphaModFix/>
          </a:blip>
          <a:stretch>
            <a:fillRect/>
          </a:stretch>
        </p:blipFill>
        <p:spPr>
          <a:xfrm>
            <a:off x="5603575" y="1680295"/>
            <a:ext cx="2133600" cy="4847805"/>
          </a:xfrm>
          <a:prstGeom prst="rect">
            <a:avLst/>
          </a:prstGeom>
          <a:noFill/>
          <a:ln>
            <a:noFill/>
          </a:ln>
        </p:spPr>
      </p:pic>
      <p:sp>
        <p:nvSpPr>
          <p:cNvPr id="227" name="Google Shape;227;p5"/>
          <p:cNvSpPr txBox="1"/>
          <p:nvPr>
            <p:ph type="title"/>
          </p:nvPr>
        </p:nvSpPr>
        <p:spPr>
          <a:xfrm>
            <a:off x="457200" y="1049177"/>
            <a:ext cx="8229600" cy="803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US"/>
              <a:t>Decode – Githin Johny </a:t>
            </a:r>
            <a:endParaRPr/>
          </a:p>
        </p:txBody>
      </p:sp>
      <p:sp>
        <p:nvSpPr>
          <p:cNvPr id="228" name="Google Shape;228;p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350"/>
              <a:buFont typeface="Arial"/>
              <a:buNone/>
            </a:pPr>
            <a:fld id="{00000000-1234-1234-1234-123412341234}" type="slidenum">
              <a:rPr lang="en-US"/>
              <a:t>‹#›</a:t>
            </a:fld>
            <a:endParaRPr/>
          </a:p>
        </p:txBody>
      </p:sp>
      <p:sp>
        <p:nvSpPr>
          <p:cNvPr id="229" name="Google Shape;229;p5"/>
          <p:cNvSpPr txBox="1"/>
          <p:nvPr>
            <p:ph idx="1" type="body"/>
          </p:nvPr>
        </p:nvSpPr>
        <p:spPr>
          <a:xfrm>
            <a:off x="356450" y="2618650"/>
            <a:ext cx="5106600" cy="3737700"/>
          </a:xfrm>
          <a:prstGeom prst="rect">
            <a:avLst/>
          </a:prstGeom>
          <a:noFill/>
          <a:ln>
            <a:noFill/>
          </a:ln>
        </p:spPr>
        <p:txBody>
          <a:bodyPr anchorCtr="0" anchor="t" bIns="91425" lIns="91425" spcFirstLastPara="1" rIns="91425" wrap="square" tIns="91425">
            <a:noAutofit/>
          </a:bodyPr>
          <a:lstStyle/>
          <a:p>
            <a:pPr indent="-387350" lvl="0" marL="457200" rtl="0" algn="l">
              <a:lnSpc>
                <a:spcPct val="100000"/>
              </a:lnSpc>
              <a:spcBef>
                <a:spcPts val="0"/>
              </a:spcBef>
              <a:spcAft>
                <a:spcPts val="0"/>
              </a:spcAft>
              <a:buSzPts val="1900"/>
              <a:buChar char="•"/>
            </a:pPr>
            <a:r>
              <a:rPr lang="en-US" sz="1900"/>
              <a:t>What does the subsystem do?</a:t>
            </a:r>
            <a:endParaRPr sz="1900"/>
          </a:p>
          <a:p>
            <a:pPr indent="-120650" lvl="1" marL="742950" rtl="0" algn="l">
              <a:lnSpc>
                <a:spcPct val="100000"/>
              </a:lnSpc>
              <a:spcBef>
                <a:spcPts val="0"/>
              </a:spcBef>
              <a:spcAft>
                <a:spcPts val="0"/>
              </a:spcAft>
              <a:buSzPts val="1900"/>
              <a:buChar char="–"/>
            </a:pPr>
            <a:r>
              <a:rPr lang="en-US" sz="1900"/>
              <a:t>Decodes instructions and generates control signals</a:t>
            </a:r>
            <a:endParaRPr sz="1900"/>
          </a:p>
          <a:p>
            <a:pPr indent="0" lvl="0" marL="0" rtl="0" algn="l">
              <a:lnSpc>
                <a:spcPct val="100000"/>
              </a:lnSpc>
              <a:spcBef>
                <a:spcPts val="0"/>
              </a:spcBef>
              <a:spcAft>
                <a:spcPts val="0"/>
              </a:spcAft>
              <a:buNone/>
            </a:pPr>
            <a:r>
              <a:t/>
            </a:r>
            <a:endParaRPr sz="1900"/>
          </a:p>
          <a:p>
            <a:pPr indent="-387350" lvl="0" marL="457200" rtl="0" algn="l">
              <a:lnSpc>
                <a:spcPct val="100000"/>
              </a:lnSpc>
              <a:spcBef>
                <a:spcPts val="0"/>
              </a:spcBef>
              <a:spcAft>
                <a:spcPts val="0"/>
              </a:spcAft>
              <a:buSzPts val="1900"/>
              <a:buChar char="•"/>
            </a:pPr>
            <a:r>
              <a:rPr lang="en-US" sz="1900"/>
              <a:t>Connections with other subsystems</a:t>
            </a:r>
            <a:endParaRPr sz="1900"/>
          </a:p>
          <a:p>
            <a:pPr indent="-120650" lvl="1" marL="742950" rtl="0" algn="l">
              <a:lnSpc>
                <a:spcPct val="100000"/>
              </a:lnSpc>
              <a:spcBef>
                <a:spcPts val="0"/>
              </a:spcBef>
              <a:spcAft>
                <a:spcPts val="0"/>
              </a:spcAft>
              <a:buSzPts val="1900"/>
              <a:buChar char="–"/>
            </a:pPr>
            <a:r>
              <a:rPr lang="en-US" sz="1900"/>
              <a:t>Takes input from the </a:t>
            </a:r>
            <a:r>
              <a:rPr lang="en-US" sz="1900"/>
              <a:t>Fetch Stage</a:t>
            </a:r>
            <a:endParaRPr sz="1900"/>
          </a:p>
          <a:p>
            <a:pPr indent="-120650" lvl="1" marL="742950" rtl="0" algn="l">
              <a:lnSpc>
                <a:spcPct val="100000"/>
              </a:lnSpc>
              <a:spcBef>
                <a:spcPts val="0"/>
              </a:spcBef>
              <a:spcAft>
                <a:spcPts val="0"/>
              </a:spcAft>
              <a:buSzPts val="1900"/>
              <a:buChar char="–"/>
            </a:pPr>
            <a:r>
              <a:rPr lang="en-US" sz="1900"/>
              <a:t>Outputs control/operands to the Execute stage</a:t>
            </a:r>
            <a:endParaRPr sz="1900"/>
          </a:p>
          <a:p>
            <a:pPr indent="0" lvl="0" marL="0" rtl="0" algn="l">
              <a:lnSpc>
                <a:spcPct val="100000"/>
              </a:lnSpc>
              <a:spcBef>
                <a:spcPts val="0"/>
              </a:spcBef>
              <a:spcAft>
                <a:spcPts val="0"/>
              </a:spcAft>
              <a:buNone/>
            </a:pPr>
            <a:r>
              <a:t/>
            </a:r>
            <a:endParaRPr sz="1800"/>
          </a:p>
          <a:p>
            <a:pPr indent="0" lvl="0" marL="0" rtl="0" algn="l">
              <a:lnSpc>
                <a:spcPct val="100000"/>
              </a:lnSpc>
              <a:spcBef>
                <a:spcPts val="0"/>
              </a:spcBef>
              <a:spcAft>
                <a:spcPts val="0"/>
              </a:spcAft>
              <a:buNone/>
            </a:pPr>
            <a:r>
              <a:t/>
            </a:r>
            <a:endParaRPr sz="1800"/>
          </a:p>
          <a:p>
            <a:pPr indent="0" lvl="0" marL="0" rtl="0" algn="l">
              <a:lnSpc>
                <a:spcPct val="100000"/>
              </a:lnSpc>
              <a:spcBef>
                <a:spcPts val="0"/>
              </a:spcBef>
              <a:spcAft>
                <a:spcPts val="0"/>
              </a:spcAft>
              <a:buNone/>
            </a:pPr>
            <a:r>
              <a:t/>
            </a:r>
            <a:endParaRPr sz="1800"/>
          </a:p>
        </p:txBody>
      </p:sp>
      <p:sp>
        <p:nvSpPr>
          <p:cNvPr id="230" name="Google Shape;230;p5"/>
          <p:cNvSpPr/>
          <p:nvPr/>
        </p:nvSpPr>
        <p:spPr>
          <a:xfrm>
            <a:off x="6353925" y="5406550"/>
            <a:ext cx="1074000" cy="55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6"/>
          <p:cNvSpPr txBox="1"/>
          <p:nvPr>
            <p:ph type="title"/>
          </p:nvPr>
        </p:nvSpPr>
        <p:spPr>
          <a:xfrm>
            <a:off x="457200" y="1049177"/>
            <a:ext cx="8229600" cy="803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US"/>
              <a:t>Execution – Talha Ibrahim</a:t>
            </a:r>
            <a:endParaRPr/>
          </a:p>
        </p:txBody>
      </p:sp>
      <p:sp>
        <p:nvSpPr>
          <p:cNvPr id="236" name="Google Shape;236;p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350"/>
              <a:buFont typeface="Arial"/>
              <a:buNone/>
            </a:pPr>
            <a:fld id="{00000000-1234-1234-1234-123412341234}" type="slidenum">
              <a:rPr lang="en-US"/>
              <a:t>‹#›</a:t>
            </a:fld>
            <a:endParaRPr/>
          </a:p>
        </p:txBody>
      </p:sp>
      <p:sp>
        <p:nvSpPr>
          <p:cNvPr id="237" name="Google Shape;237;p6"/>
          <p:cNvSpPr txBox="1"/>
          <p:nvPr>
            <p:ph idx="1" type="body"/>
          </p:nvPr>
        </p:nvSpPr>
        <p:spPr>
          <a:xfrm>
            <a:off x="457200" y="2141030"/>
            <a:ext cx="5420400" cy="4269900"/>
          </a:xfrm>
          <a:prstGeom prst="rect">
            <a:avLst/>
          </a:prstGeom>
          <a:noFill/>
          <a:ln>
            <a:noFill/>
          </a:ln>
        </p:spPr>
        <p:txBody>
          <a:bodyPr anchorCtr="0" anchor="t" bIns="91425" lIns="91425" spcFirstLastPara="1" rIns="91425" wrap="square" tIns="91425">
            <a:noAutofit/>
          </a:bodyPr>
          <a:lstStyle/>
          <a:p>
            <a:pPr indent="-387350" lvl="0" marL="457200" rtl="0" algn="l">
              <a:lnSpc>
                <a:spcPct val="100000"/>
              </a:lnSpc>
              <a:spcBef>
                <a:spcPts val="0"/>
              </a:spcBef>
              <a:spcAft>
                <a:spcPts val="0"/>
              </a:spcAft>
              <a:buSzPts val="1900"/>
              <a:buChar char="•"/>
            </a:pPr>
            <a:r>
              <a:rPr lang="en-US" sz="1900"/>
              <a:t>What does the subsystem do?</a:t>
            </a:r>
            <a:endParaRPr sz="1900"/>
          </a:p>
          <a:p>
            <a:pPr indent="-120650" lvl="1" marL="742950" rtl="0" algn="l">
              <a:lnSpc>
                <a:spcPct val="100000"/>
              </a:lnSpc>
              <a:spcBef>
                <a:spcPts val="0"/>
              </a:spcBef>
              <a:spcAft>
                <a:spcPts val="0"/>
              </a:spcAft>
              <a:buSzPts val="1900"/>
              <a:buChar char="–"/>
            </a:pPr>
            <a:r>
              <a:rPr lang="en-US" sz="1900"/>
              <a:t>Responsible for performing operations of </a:t>
            </a:r>
            <a:r>
              <a:rPr lang="en-US" sz="1900"/>
              <a:t>instructions:</a:t>
            </a:r>
            <a:endParaRPr sz="1900"/>
          </a:p>
          <a:p>
            <a:pPr indent="-120650" lvl="2" marL="1143000" rtl="0" algn="l">
              <a:lnSpc>
                <a:spcPct val="100000"/>
              </a:lnSpc>
              <a:spcBef>
                <a:spcPts val="0"/>
              </a:spcBef>
              <a:spcAft>
                <a:spcPts val="0"/>
              </a:spcAft>
              <a:buSzPts val="1900"/>
              <a:buChar char="•"/>
            </a:pPr>
            <a:r>
              <a:rPr lang="en-US" sz="1900"/>
              <a:t>Arithmetic operations</a:t>
            </a:r>
            <a:endParaRPr sz="1900"/>
          </a:p>
          <a:p>
            <a:pPr indent="-120650" lvl="2" marL="1143000" rtl="0" algn="l">
              <a:lnSpc>
                <a:spcPct val="100000"/>
              </a:lnSpc>
              <a:spcBef>
                <a:spcPts val="0"/>
              </a:spcBef>
              <a:spcAft>
                <a:spcPts val="0"/>
              </a:spcAft>
              <a:buSzPts val="1900"/>
              <a:buChar char="•"/>
            </a:pPr>
            <a:r>
              <a:rPr lang="en-US" sz="1900"/>
              <a:t>Calculating Memory Addresses</a:t>
            </a:r>
            <a:endParaRPr sz="1900"/>
          </a:p>
          <a:p>
            <a:pPr indent="-120650" lvl="2" marL="1143000" rtl="0" algn="l">
              <a:lnSpc>
                <a:spcPct val="100000"/>
              </a:lnSpc>
              <a:spcBef>
                <a:spcPts val="0"/>
              </a:spcBef>
              <a:spcAft>
                <a:spcPts val="0"/>
              </a:spcAft>
              <a:buSzPts val="1900"/>
              <a:buChar char="•"/>
            </a:pPr>
            <a:r>
              <a:rPr lang="en-US" sz="1900"/>
              <a:t>Branching</a:t>
            </a:r>
            <a:endParaRPr sz="1900"/>
          </a:p>
          <a:p>
            <a:pPr indent="-387350" lvl="0" marL="457200" rtl="0" algn="l">
              <a:lnSpc>
                <a:spcPct val="100000"/>
              </a:lnSpc>
              <a:spcBef>
                <a:spcPts val="0"/>
              </a:spcBef>
              <a:spcAft>
                <a:spcPts val="0"/>
              </a:spcAft>
              <a:buSzPts val="1900"/>
              <a:buChar char="•"/>
            </a:pPr>
            <a:r>
              <a:rPr lang="en-US" sz="1900"/>
              <a:t>How will it connect to and interact with other subsystems </a:t>
            </a:r>
            <a:endParaRPr sz="1900"/>
          </a:p>
          <a:p>
            <a:pPr indent="-120650" lvl="1" marL="742950" rtl="0" algn="l">
              <a:lnSpc>
                <a:spcPct val="100000"/>
              </a:lnSpc>
              <a:spcBef>
                <a:spcPts val="0"/>
              </a:spcBef>
              <a:spcAft>
                <a:spcPts val="0"/>
              </a:spcAft>
              <a:buSzPts val="1900"/>
              <a:buChar char="–"/>
            </a:pPr>
            <a:r>
              <a:rPr lang="en-US" sz="1900"/>
              <a:t>Receives operands &amp; control signals</a:t>
            </a:r>
            <a:endParaRPr sz="1900"/>
          </a:p>
          <a:p>
            <a:pPr indent="-120650" lvl="1" marL="742950" rtl="0" algn="l">
              <a:lnSpc>
                <a:spcPct val="100000"/>
              </a:lnSpc>
              <a:spcBef>
                <a:spcPts val="0"/>
              </a:spcBef>
              <a:spcAft>
                <a:spcPts val="0"/>
              </a:spcAft>
              <a:buSzPts val="1900"/>
              <a:buChar char="–"/>
            </a:pPr>
            <a:r>
              <a:rPr lang="en-US" sz="1900"/>
              <a:t>Sends calculated memory/store addresses</a:t>
            </a:r>
            <a:endParaRPr sz="1900"/>
          </a:p>
        </p:txBody>
      </p:sp>
      <p:pic>
        <p:nvPicPr>
          <p:cNvPr id="238" name="Google Shape;238;p6"/>
          <p:cNvPicPr preferRelativeResize="0"/>
          <p:nvPr/>
        </p:nvPicPr>
        <p:blipFill>
          <a:blip r:embed="rId3">
            <a:alphaModFix/>
          </a:blip>
          <a:stretch>
            <a:fillRect/>
          </a:stretch>
        </p:blipFill>
        <p:spPr>
          <a:xfrm>
            <a:off x="6157275" y="1783027"/>
            <a:ext cx="2321351" cy="47003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7"/>
          <p:cNvPicPr preferRelativeResize="0"/>
          <p:nvPr/>
        </p:nvPicPr>
        <p:blipFill>
          <a:blip r:embed="rId3">
            <a:alphaModFix/>
          </a:blip>
          <a:stretch>
            <a:fillRect/>
          </a:stretch>
        </p:blipFill>
        <p:spPr>
          <a:xfrm>
            <a:off x="5414800" y="2131025"/>
            <a:ext cx="2728550" cy="4520425"/>
          </a:xfrm>
          <a:prstGeom prst="rect">
            <a:avLst/>
          </a:prstGeom>
          <a:noFill/>
          <a:ln>
            <a:noFill/>
          </a:ln>
        </p:spPr>
      </p:pic>
      <p:sp>
        <p:nvSpPr>
          <p:cNvPr id="244" name="Google Shape;244;p7"/>
          <p:cNvSpPr txBox="1"/>
          <p:nvPr>
            <p:ph type="title"/>
          </p:nvPr>
        </p:nvSpPr>
        <p:spPr>
          <a:xfrm>
            <a:off x="457200" y="1049177"/>
            <a:ext cx="8229600" cy="803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US"/>
              <a:t>Memory Access – Giovani Giagnacovo</a:t>
            </a:r>
            <a:endParaRPr/>
          </a:p>
        </p:txBody>
      </p:sp>
      <p:sp>
        <p:nvSpPr>
          <p:cNvPr id="245" name="Google Shape;245;p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350"/>
              <a:buFont typeface="Arial"/>
              <a:buNone/>
            </a:pPr>
            <a:fld id="{00000000-1234-1234-1234-123412341234}" type="slidenum">
              <a:rPr lang="en-US"/>
              <a:t>‹#›</a:t>
            </a:fld>
            <a:endParaRPr/>
          </a:p>
        </p:txBody>
      </p:sp>
      <p:sp>
        <p:nvSpPr>
          <p:cNvPr id="246" name="Google Shape;246;p7"/>
          <p:cNvSpPr txBox="1"/>
          <p:nvPr>
            <p:ph idx="1" type="body"/>
          </p:nvPr>
        </p:nvSpPr>
        <p:spPr>
          <a:xfrm>
            <a:off x="457200" y="2445250"/>
            <a:ext cx="4366800" cy="3975000"/>
          </a:xfrm>
          <a:prstGeom prst="rect">
            <a:avLst/>
          </a:prstGeom>
          <a:noFill/>
          <a:ln>
            <a:noFill/>
          </a:ln>
        </p:spPr>
        <p:txBody>
          <a:bodyPr anchorCtr="0" anchor="t" bIns="91425" lIns="91425" spcFirstLastPara="1" rIns="91425" wrap="square" tIns="91425">
            <a:noAutofit/>
          </a:bodyPr>
          <a:lstStyle/>
          <a:p>
            <a:pPr indent="-387350" lvl="0" marL="457200" rtl="0" algn="l">
              <a:spcBef>
                <a:spcPts val="0"/>
              </a:spcBef>
              <a:spcAft>
                <a:spcPts val="0"/>
              </a:spcAft>
              <a:buSzPts val="1900"/>
              <a:buChar char="•"/>
            </a:pPr>
            <a:r>
              <a:rPr lang="en-US" sz="1900"/>
              <a:t>What does the subsystem do?</a:t>
            </a:r>
            <a:endParaRPr sz="1900"/>
          </a:p>
          <a:p>
            <a:pPr indent="-120650" lvl="1" marL="742950" rtl="0" algn="l">
              <a:spcBef>
                <a:spcPts val="0"/>
              </a:spcBef>
              <a:spcAft>
                <a:spcPts val="0"/>
              </a:spcAft>
              <a:buSzPts val="1900"/>
              <a:buChar char="–"/>
            </a:pPr>
            <a:r>
              <a:rPr lang="en-US" sz="1900"/>
              <a:t>Loads and stores data from memory and drives output</a:t>
            </a:r>
            <a:endParaRPr sz="1900"/>
          </a:p>
          <a:p>
            <a:pPr indent="0" lvl="0" marL="0" rtl="0" algn="l">
              <a:spcBef>
                <a:spcPts val="0"/>
              </a:spcBef>
              <a:spcAft>
                <a:spcPts val="0"/>
              </a:spcAft>
              <a:buClr>
                <a:schemeClr val="dk1"/>
              </a:buClr>
              <a:buSzPts val="1100"/>
              <a:buFont typeface="Arial"/>
              <a:buNone/>
            </a:pPr>
            <a:r>
              <a:t/>
            </a:r>
            <a:endParaRPr sz="1900"/>
          </a:p>
          <a:p>
            <a:pPr indent="-387350" lvl="0" marL="457200" rtl="0" algn="l">
              <a:spcBef>
                <a:spcPts val="0"/>
              </a:spcBef>
              <a:spcAft>
                <a:spcPts val="0"/>
              </a:spcAft>
              <a:buSzPts val="1900"/>
              <a:buChar char="•"/>
            </a:pPr>
            <a:r>
              <a:rPr lang="en-US" sz="1900"/>
              <a:t>Connections with other subsystems</a:t>
            </a:r>
            <a:endParaRPr sz="1900"/>
          </a:p>
          <a:p>
            <a:pPr indent="-120650" lvl="1" marL="742950" rtl="0" algn="l">
              <a:spcBef>
                <a:spcPts val="0"/>
              </a:spcBef>
              <a:spcAft>
                <a:spcPts val="0"/>
              </a:spcAft>
              <a:buSzPts val="1900"/>
              <a:buChar char="–"/>
            </a:pPr>
            <a:r>
              <a:rPr lang="en-US" sz="1900"/>
              <a:t>Decode: control signals assigned at this stage determine memory access, and what output is driven back to the registers. </a:t>
            </a:r>
            <a:endParaRPr sz="1900"/>
          </a:p>
          <a:p>
            <a:pPr indent="-120650" lvl="1" marL="742950" rtl="0" algn="l">
              <a:spcBef>
                <a:spcPts val="0"/>
              </a:spcBef>
              <a:spcAft>
                <a:spcPts val="0"/>
              </a:spcAft>
              <a:buSzPts val="1900"/>
              <a:buChar char="–"/>
            </a:pPr>
            <a:r>
              <a:rPr lang="en-US" sz="1900"/>
              <a:t>Execution: ALU output is fed into the multiplexor.</a:t>
            </a:r>
            <a:endParaRPr sz="1900"/>
          </a:p>
          <a:p>
            <a:pPr indent="0" lvl="0" marL="0" rtl="0" algn="l">
              <a:spcBef>
                <a:spcPts val="0"/>
              </a:spcBef>
              <a:spcAft>
                <a:spcPts val="0"/>
              </a:spcAft>
              <a:buClr>
                <a:schemeClr val="dk1"/>
              </a:buClr>
              <a:buSzPts val="1100"/>
              <a:buFont typeface="Arial"/>
              <a:buNone/>
            </a:pPr>
            <a:r>
              <a:t/>
            </a:r>
            <a:endParaRPr sz="1800"/>
          </a:p>
          <a:p>
            <a:pPr indent="0" lvl="0" marL="342900" rtl="0" algn="l">
              <a:lnSpc>
                <a:spcPct val="100000"/>
              </a:lnSpc>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8"/>
          <p:cNvSpPr txBox="1"/>
          <p:nvPr>
            <p:ph type="title"/>
          </p:nvPr>
        </p:nvSpPr>
        <p:spPr>
          <a:xfrm>
            <a:off x="101100" y="660138"/>
            <a:ext cx="8229600" cy="803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US"/>
              <a:t>Project Execution &amp; Validation </a:t>
            </a:r>
            <a:endParaRPr/>
          </a:p>
        </p:txBody>
      </p:sp>
      <p:graphicFrame>
        <p:nvGraphicFramePr>
          <p:cNvPr id="252" name="Google Shape;252;p8"/>
          <p:cNvGraphicFramePr/>
          <p:nvPr/>
        </p:nvGraphicFramePr>
        <p:xfrm>
          <a:off x="543125" y="1294300"/>
          <a:ext cx="3000000" cy="3000000"/>
        </p:xfrm>
        <a:graphic>
          <a:graphicData uri="http://schemas.openxmlformats.org/drawingml/2006/table">
            <a:tbl>
              <a:tblPr>
                <a:noFill/>
                <a:tableStyleId>{1ED9F478-334C-4CB3-97C4-F0FF5215E216}</a:tableStyleId>
              </a:tblPr>
              <a:tblGrid>
                <a:gridCol w="1289050"/>
                <a:gridCol w="1289050"/>
                <a:gridCol w="1289050"/>
                <a:gridCol w="1289050"/>
                <a:gridCol w="1289050"/>
                <a:gridCol w="1289050"/>
              </a:tblGrid>
              <a:tr h="381000">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a:t>9/30</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10/</a:t>
                      </a:r>
                      <a:r>
                        <a:rPr b="1" lang="en-US" sz="1200"/>
                        <a:t>14</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10/</a:t>
                      </a:r>
                      <a:r>
                        <a:rPr b="1" lang="en-US" sz="1200"/>
                        <a:t>28</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1</a:t>
                      </a:r>
                      <a:r>
                        <a:rPr b="1" lang="en-US" sz="1200"/>
                        <a:t>1/11</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11/</a:t>
                      </a:r>
                      <a:r>
                        <a:rPr b="1" lang="en-US" sz="1200"/>
                        <a:t>25</a:t>
                      </a:r>
                      <a:endParaRPr/>
                    </a:p>
                  </a:txBody>
                  <a:tcPr marT="91425" marB="91425" marR="91425" marL="91425"/>
                </a:tc>
              </a:tr>
              <a:tr h="1240725">
                <a:tc>
                  <a:txBody>
                    <a:bodyPr/>
                    <a:lstStyle/>
                    <a:p>
                      <a:pPr indent="0" lvl="0" marL="0" marR="0" rtl="0" algn="l">
                        <a:lnSpc>
                          <a:spcPct val="100000"/>
                        </a:lnSpc>
                        <a:spcBef>
                          <a:spcPts val="0"/>
                        </a:spcBef>
                        <a:spcAft>
                          <a:spcPts val="0"/>
                        </a:spcAft>
                        <a:buClr>
                          <a:srgbClr val="000000"/>
                        </a:buClr>
                        <a:buSzPts val="1200"/>
                        <a:buFont typeface="Arial"/>
                        <a:buNone/>
                      </a:pPr>
                      <a:r>
                        <a:rPr b="1" lang="en-US" sz="1200"/>
                        <a:t>Fetch -</a:t>
                      </a:r>
                      <a:endParaRPr/>
                    </a:p>
                    <a:p>
                      <a:pPr indent="0" lvl="0" marL="0" marR="0" rtl="0" algn="l">
                        <a:lnSpc>
                          <a:spcPct val="100000"/>
                        </a:lnSpc>
                        <a:spcBef>
                          <a:spcPts val="0"/>
                        </a:spcBef>
                        <a:spcAft>
                          <a:spcPts val="0"/>
                        </a:spcAft>
                        <a:buClr>
                          <a:srgbClr val="000000"/>
                        </a:buClr>
                        <a:buSzPts val="1200"/>
                        <a:buFont typeface="Arial"/>
                        <a:buNone/>
                      </a:pPr>
                      <a:r>
                        <a:rPr b="1" lang="en-US" sz="1200"/>
                        <a:t>Kevin Umanzor</a:t>
                      </a:r>
                      <a:endParaRPr b="1" sz="1200" u="none" cap="none" strike="noStrike"/>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lang="en-US" sz="1200">
                          <a:solidFill>
                            <a:schemeClr val="dk1"/>
                          </a:solidFill>
                        </a:rPr>
                        <a:t>Complete design of the 16-bit RISC-V ISA</a:t>
                      </a:r>
                      <a:endParaRPr sz="1200">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US" sz="1200">
                          <a:solidFill>
                            <a:schemeClr val="dk1"/>
                          </a:solidFill>
                        </a:rPr>
                        <a:t>Implement the Verilog for Program Counter (PC) &amp; Instruction Memory</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200">
                          <a:solidFill>
                            <a:schemeClr val="dk1"/>
                          </a:solidFill>
                        </a:rPr>
                        <a:t>Successfully pass the Testbench for PC &amp; Instruction Memory </a:t>
                      </a:r>
                      <a:endParaRPr sz="1200">
                        <a:solidFill>
                          <a:schemeClr val="dk1"/>
                        </a:solidFill>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a:t>Implement PC &amp; Instruction Memory within OpenROAD</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Validate </a:t>
                      </a:r>
                      <a:r>
                        <a:rPr lang="en-US" sz="1200"/>
                        <a:t>OpenROAD design of PC &amp; Instruction Memory</a:t>
                      </a:r>
                      <a:endParaRPr sz="1200" u="none" cap="none" strike="noStrike"/>
                    </a:p>
                  </a:txBody>
                  <a:tcPr marT="91425" marB="91425" marR="91425" marL="91425"/>
                </a:tc>
              </a:tr>
              <a:tr h="1527625">
                <a:tc>
                  <a:txBody>
                    <a:bodyPr/>
                    <a:lstStyle/>
                    <a:p>
                      <a:pPr indent="0" lvl="0" marL="0" marR="0" rtl="0" algn="l">
                        <a:lnSpc>
                          <a:spcPct val="100000"/>
                        </a:lnSpc>
                        <a:spcBef>
                          <a:spcPts val="0"/>
                        </a:spcBef>
                        <a:spcAft>
                          <a:spcPts val="0"/>
                        </a:spcAft>
                        <a:buClr>
                          <a:srgbClr val="000000"/>
                        </a:buClr>
                        <a:buSzPts val="1200"/>
                        <a:buFont typeface="Arial"/>
                        <a:buNone/>
                      </a:pPr>
                      <a:r>
                        <a:rPr b="1" lang="en-US" sz="1200"/>
                        <a:t>Decode -</a:t>
                      </a:r>
                      <a:endParaRPr/>
                    </a:p>
                    <a:p>
                      <a:pPr indent="0" lvl="0" marL="0" marR="0" rtl="0" algn="l">
                        <a:lnSpc>
                          <a:spcPct val="100000"/>
                        </a:lnSpc>
                        <a:spcBef>
                          <a:spcPts val="0"/>
                        </a:spcBef>
                        <a:spcAft>
                          <a:spcPts val="0"/>
                        </a:spcAft>
                        <a:buClr>
                          <a:srgbClr val="000000"/>
                        </a:buClr>
                        <a:buSzPts val="1200"/>
                        <a:buFont typeface="Arial"/>
                        <a:buNone/>
                      </a:pPr>
                      <a:r>
                        <a:rPr b="1" lang="en-US" sz="1200"/>
                        <a:t>Githin Johny</a:t>
                      </a:r>
                      <a:endParaRPr b="1" sz="1200" u="none" cap="none" strike="noStrike"/>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lang="en-US" sz="1200">
                          <a:solidFill>
                            <a:schemeClr val="dk1"/>
                          </a:solidFill>
                        </a:rPr>
                        <a:t>Complete design of the 16-bit RISC-V ISA</a:t>
                      </a:r>
                      <a:endParaRPr sz="12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200">
                          <a:solidFill>
                            <a:schemeClr val="dk1"/>
                          </a:solidFill>
                        </a:rPr>
                        <a:t>Implement the Verilog for the Control Unit, Register file, and Add Immediates</a:t>
                      </a:r>
                      <a:endParaRPr sz="1200">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200">
                          <a:solidFill>
                            <a:schemeClr val="dk1"/>
                          </a:solidFill>
                        </a:rPr>
                        <a:t>Successfully pass the Testbench for Control Unit, Register file, and Add Immediate</a:t>
                      </a:r>
                      <a:endParaRPr sz="1200">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lang="en-US" sz="1200">
                          <a:solidFill>
                            <a:schemeClr val="dk1"/>
                          </a:solidFill>
                        </a:rPr>
                        <a:t>Implement Control Unit, Register file, and Add Immediate within OpenROAD</a:t>
                      </a:r>
                      <a:endParaRPr>
                        <a:solidFill>
                          <a:schemeClr val="dk1"/>
                        </a:solidFill>
                      </a:endParaRPr>
                    </a:p>
                    <a:p>
                      <a:pPr indent="0" lvl="0" marL="0" marR="0" rtl="0" algn="l">
                        <a:lnSpc>
                          <a:spcPct val="100000"/>
                        </a:lnSpc>
                        <a:spcBef>
                          <a:spcPts val="0"/>
                        </a:spcBef>
                        <a:spcAft>
                          <a:spcPts val="0"/>
                        </a:spcAft>
                        <a:buClr>
                          <a:srgbClr val="000000"/>
                        </a:buClr>
                        <a:buSzPts val="1200"/>
                        <a:buFont typeface="Arial"/>
                        <a:buNone/>
                      </a:pPr>
                      <a:r>
                        <a:t/>
                      </a:r>
                      <a:endParaRPr sz="1200"/>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a:t>Validate OpenROAD design using Static Timing Analysis</a:t>
                      </a:r>
                      <a:endParaRPr sz="12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n-US" sz="1200"/>
                        <a:t>Execution -</a:t>
                      </a:r>
                      <a:endParaRPr/>
                    </a:p>
                    <a:p>
                      <a:pPr indent="0" lvl="0" marL="0" marR="0" rtl="0" algn="l">
                        <a:lnSpc>
                          <a:spcPct val="100000"/>
                        </a:lnSpc>
                        <a:spcBef>
                          <a:spcPts val="0"/>
                        </a:spcBef>
                        <a:spcAft>
                          <a:spcPts val="0"/>
                        </a:spcAft>
                        <a:buClr>
                          <a:srgbClr val="000000"/>
                        </a:buClr>
                        <a:buSzPts val="1200"/>
                        <a:buFont typeface="Arial"/>
                        <a:buNone/>
                      </a:pPr>
                      <a:r>
                        <a:rPr b="1" lang="en-US" sz="1200"/>
                        <a:t>Talha Ibrahim</a:t>
                      </a:r>
                      <a:endParaRPr b="1" sz="1200" u="none" cap="none" strike="noStrike"/>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lang="en-US" sz="1200">
                          <a:solidFill>
                            <a:schemeClr val="dk1"/>
                          </a:solidFill>
                        </a:rPr>
                        <a:t>Complete design of the 16-bit RISC-V ISA</a:t>
                      </a:r>
                      <a:endParaRPr sz="12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200">
                          <a:solidFill>
                            <a:schemeClr val="dk1"/>
                          </a:solidFill>
                        </a:rPr>
                        <a:t>Implement the Verilog for the ALU &amp; ALU Control</a:t>
                      </a:r>
                      <a:endParaRPr sz="1200">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US" sz="1200">
                          <a:solidFill>
                            <a:schemeClr val="dk1"/>
                          </a:solidFill>
                        </a:rPr>
                        <a:t>Successfully pass the Testbench for the ALU &amp; ALU Control</a:t>
                      </a:r>
                      <a:endParaRPr sz="1200" u="none" cap="none" strike="noStrike">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lang="en-US" sz="1200">
                          <a:solidFill>
                            <a:schemeClr val="dk1"/>
                          </a:solidFill>
                        </a:rPr>
                        <a:t>Implement ALU &amp; ALU Control within OpenROAD</a:t>
                      </a:r>
                      <a:endParaRPr>
                        <a:solidFill>
                          <a:schemeClr val="dk1"/>
                        </a:solidFill>
                      </a:endParaRPr>
                    </a:p>
                    <a:p>
                      <a:pPr indent="0" lvl="0" marL="0" marR="0" rtl="0" algn="l">
                        <a:lnSpc>
                          <a:spcPct val="100000"/>
                        </a:lnSpc>
                        <a:spcBef>
                          <a:spcPts val="0"/>
                        </a:spcBef>
                        <a:spcAft>
                          <a:spcPts val="0"/>
                        </a:spcAft>
                        <a:buClr>
                          <a:srgbClr val="000000"/>
                        </a:buClr>
                        <a:buSzPts val="1200"/>
                        <a:buFont typeface="Arial"/>
                        <a:buNone/>
                      </a:pPr>
                      <a:r>
                        <a:t/>
                      </a:r>
                      <a:endParaRPr sz="1200"/>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lang="en-US" sz="1200">
                          <a:solidFill>
                            <a:schemeClr val="dk1"/>
                          </a:solidFill>
                        </a:rPr>
                        <a:t>Validate OpenROAD design of ALU &amp; ALU Control </a:t>
                      </a:r>
                      <a:endParaRPr sz="1200">
                        <a:solidFill>
                          <a:schemeClr val="dk1"/>
                        </a:solidFill>
                      </a:endParaRPr>
                    </a:p>
                    <a:p>
                      <a:pPr indent="0" lvl="0" marL="0" marR="0" rtl="0" algn="l">
                        <a:lnSpc>
                          <a:spcPct val="100000"/>
                        </a:lnSpc>
                        <a:spcBef>
                          <a:spcPts val="0"/>
                        </a:spcBef>
                        <a:spcAft>
                          <a:spcPts val="0"/>
                        </a:spcAft>
                        <a:buClr>
                          <a:srgbClr val="000000"/>
                        </a:buClr>
                        <a:buSzPts val="1200"/>
                        <a:buFont typeface="Arial"/>
                        <a:buNone/>
                      </a:pPr>
                      <a:r>
                        <a:t/>
                      </a:r>
                      <a:endParaRPr sz="1200"/>
                    </a:p>
                  </a:txBody>
                  <a:tcPr marT="91425" marB="91425" marR="91425" marL="91425"/>
                </a:tc>
              </a:tr>
              <a:tr h="1049000">
                <a:tc>
                  <a:txBody>
                    <a:bodyPr/>
                    <a:lstStyle/>
                    <a:p>
                      <a:pPr indent="0" lvl="0" marL="0" marR="0" rtl="0" algn="l">
                        <a:lnSpc>
                          <a:spcPct val="100000"/>
                        </a:lnSpc>
                        <a:spcBef>
                          <a:spcPts val="0"/>
                        </a:spcBef>
                        <a:spcAft>
                          <a:spcPts val="0"/>
                        </a:spcAft>
                        <a:buClr>
                          <a:srgbClr val="000000"/>
                        </a:buClr>
                        <a:buSzPts val="1200"/>
                        <a:buFont typeface="Arial"/>
                        <a:buNone/>
                      </a:pPr>
                      <a:r>
                        <a:rPr b="1" lang="en-US" sz="1200"/>
                        <a:t>Memory Access</a:t>
                      </a:r>
                      <a:r>
                        <a:rPr b="1" lang="en-US" sz="1200" u="none" cap="none" strike="noStrike"/>
                        <a:t> - </a:t>
                      </a:r>
                      <a:r>
                        <a:rPr b="1" lang="en-US" sz="1200"/>
                        <a:t>Giovani Giagnacovo</a:t>
                      </a:r>
                      <a:endParaRPr b="1"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b="1" sz="1200" u="none" cap="none" strike="noStrike"/>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lang="en-US" sz="1200">
                          <a:solidFill>
                            <a:schemeClr val="dk1"/>
                          </a:solidFill>
                        </a:rPr>
                        <a:t>Complete design of the 16-bit RISC-V ISA</a:t>
                      </a:r>
                      <a:endParaRPr sz="1200">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200">
                          <a:solidFill>
                            <a:schemeClr val="dk1"/>
                          </a:solidFill>
                        </a:rPr>
                        <a:t>Implement the Verilog for the memory unit (SRAM cache) </a:t>
                      </a:r>
                      <a:endParaRPr>
                        <a:solidFill>
                          <a:schemeClr val="dk1"/>
                        </a:solidFill>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200">
                          <a:solidFill>
                            <a:schemeClr val="dk1"/>
                          </a:solidFill>
                        </a:rPr>
                        <a:t>Develop the testbench for the memory unit</a:t>
                      </a:r>
                      <a:endParaRPr sz="1200">
                        <a:solidFill>
                          <a:schemeClr val="dk1"/>
                        </a:solidFill>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200"/>
                        <a:buFont typeface="Arial"/>
                        <a:buNone/>
                      </a:pPr>
                      <a:r>
                        <a:rPr lang="en-US" sz="1200">
                          <a:solidFill>
                            <a:schemeClr val="dk1"/>
                          </a:solidFill>
                        </a:rPr>
                        <a:t>Implement the memory unit within OpenROAD</a:t>
                      </a:r>
                      <a:endParaRPr>
                        <a:solidFill>
                          <a:schemeClr val="dk1"/>
                        </a:solidFill>
                      </a:endParaRPr>
                    </a:p>
                    <a:p>
                      <a:pPr indent="0" lvl="0" marL="0" marR="0" rtl="0" algn="l">
                        <a:lnSpc>
                          <a:spcPct val="100000"/>
                        </a:lnSpc>
                        <a:spcBef>
                          <a:spcPts val="0"/>
                        </a:spcBef>
                        <a:spcAft>
                          <a:spcPts val="0"/>
                        </a:spcAft>
                        <a:buClr>
                          <a:srgbClr val="000000"/>
                        </a:buClr>
                        <a:buSzPts val="1200"/>
                        <a:buFont typeface="Arial"/>
                        <a:buNone/>
                      </a:pPr>
                      <a:r>
                        <a:t/>
                      </a:r>
                      <a:endParaRPr sz="1200"/>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a:t>Validate </a:t>
                      </a:r>
                      <a:r>
                        <a:rPr lang="en-US" sz="1200">
                          <a:solidFill>
                            <a:schemeClr val="dk1"/>
                          </a:solidFill>
                        </a:rPr>
                        <a:t>OpenROAD</a:t>
                      </a:r>
                      <a:r>
                        <a:rPr lang="en-US" sz="1200"/>
                        <a:t> design of memory unit</a:t>
                      </a:r>
                      <a:endParaRPr sz="1200" u="none" cap="none" strike="noStrike"/>
                    </a:p>
                  </a:txBody>
                  <a:tcPr marT="91425" marB="91425" marR="91425" marL="91425"/>
                </a:tc>
              </a:tr>
            </a:tbl>
          </a:graphicData>
        </a:graphic>
      </p:graphicFrame>
      <p:sp>
        <p:nvSpPr>
          <p:cNvPr id="253" name="Google Shape;253;p8"/>
          <p:cNvSpPr txBox="1"/>
          <p:nvPr/>
        </p:nvSpPr>
        <p:spPr>
          <a:xfrm>
            <a:off x="7141700" y="249423"/>
            <a:ext cx="1904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254" name="Google Shape;254;p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35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Nowka, Kevin J.</dc:creator>
</cp:coreProperties>
</file>