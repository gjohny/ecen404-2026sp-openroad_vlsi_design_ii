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kBuVjqzdpnMywBE+1LqTst+oC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customschemas.google.com/relationships/presentationmetadata" Target="meta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90c5b1ff0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490c5b1ff0_0_5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260a82d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https://sirinsoftware.com/blog/inside-risc-v-microarchitecture</a:t>
            </a:r>
            <a:endParaRPr/>
          </a:p>
        </p:txBody>
      </p:sp>
      <p:sp>
        <p:nvSpPr>
          <p:cNvPr id="102" name="Google Shape;102;g38260a82d96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260a82d96_1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260a82d96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8260a82d96_1_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>
            <p:ph type="ctrTitle"/>
          </p:nvPr>
        </p:nvSpPr>
        <p:spPr>
          <a:xfrm>
            <a:off x="230700" y="4799950"/>
            <a:ext cx="86826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40"/>
              <a:buFont typeface="Arial"/>
              <a:buNone/>
            </a:pPr>
            <a:r>
              <a:rPr lang="en-US" sz="3140"/>
              <a:t>Project name: OpenROAD VLSI Design II</a:t>
            </a:r>
            <a:br>
              <a:rPr lang="en-US" sz="3140"/>
            </a:br>
            <a:r>
              <a:rPr lang="en-US" sz="3140"/>
              <a:t>Team members:Githin, Giovani, </a:t>
            </a:r>
            <a:endParaRPr sz="314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40"/>
              <a:buFont typeface="Arial"/>
              <a:buNone/>
            </a:pPr>
            <a:r>
              <a:rPr lang="en-US" sz="3140"/>
              <a:t>Kevin, Talha</a:t>
            </a:r>
            <a:endParaRPr sz="31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description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457200" y="1922275"/>
            <a:ext cx="8275200" cy="27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Problem statement: “</a:t>
            </a:r>
            <a:r>
              <a:rPr lang="en-US"/>
              <a:t>Traditional RTL-to-GDSII chip design involves many complex, manual stages that are dependent on human expertise.</a:t>
            </a:r>
            <a:r>
              <a:rPr lang="en-US" sz="3200"/>
              <a:t>”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304072" y="4756461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2800022" y="4756461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D83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037" y="4756806"/>
            <a:ext cx="1637100" cy="1042500"/>
          </a:xfrm>
          <a:prstGeom prst="homePlate">
            <a:avLst>
              <a:gd fmla="val 50000" name="adj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308657" y="4756461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797722" y="4756636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D83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306357" y="4756636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3300925" y="5065309"/>
            <a:ext cx="1237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Placement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129425" y="5078181"/>
            <a:ext cx="12372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RTL Design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853425" y="4928331"/>
            <a:ext cx="12372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Logic Synthesis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843060" y="4974398"/>
            <a:ext cx="1237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Clock Tree Synthesis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66650" y="5078181"/>
            <a:ext cx="1237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Routing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7780475" y="5078181"/>
            <a:ext cx="1357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GDSII/Tapeout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90c5b1ff0_0_50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description</a:t>
            </a:r>
            <a:endParaRPr/>
          </a:p>
        </p:txBody>
      </p:sp>
      <p:sp>
        <p:nvSpPr>
          <p:cNvPr id="84" name="Google Shape;84;g3490c5b1ff0_0_502"/>
          <p:cNvSpPr txBox="1"/>
          <p:nvPr>
            <p:ph idx="1" type="body"/>
          </p:nvPr>
        </p:nvSpPr>
        <p:spPr>
          <a:xfrm>
            <a:off x="279850" y="1968723"/>
            <a:ext cx="8229600" cy="26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Proposed Solution</a:t>
            </a:r>
            <a:r>
              <a:rPr lang="en-US" sz="3200"/>
              <a:t>: “</a:t>
            </a:r>
            <a:r>
              <a:rPr lang="en-US"/>
              <a:t>OpenROAD will </a:t>
            </a:r>
            <a:r>
              <a:rPr lang="en-US"/>
              <a:t>expedite</a:t>
            </a:r>
            <a:r>
              <a:rPr lang="en-US"/>
              <a:t> this lengthy design process, requiring only an RTL description while the toolchain automatically performs essential tasks to produce a fabrication-ready layout.</a:t>
            </a:r>
            <a:r>
              <a:rPr lang="en-US" sz="3200"/>
              <a:t>”</a:t>
            </a:r>
            <a:endParaRPr/>
          </a:p>
        </p:txBody>
      </p:sp>
      <p:sp>
        <p:nvSpPr>
          <p:cNvPr id="85" name="Google Shape;85;g3490c5b1ff0_0_502"/>
          <p:cNvSpPr/>
          <p:nvPr/>
        </p:nvSpPr>
        <p:spPr>
          <a:xfrm>
            <a:off x="7304072" y="4756461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g3490c5b1ff0_0_502"/>
          <p:cNvSpPr/>
          <p:nvPr/>
        </p:nvSpPr>
        <p:spPr>
          <a:xfrm>
            <a:off x="2800022" y="4756461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D83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490c5b1ff0_0_502"/>
          <p:cNvSpPr/>
          <p:nvPr/>
        </p:nvSpPr>
        <p:spPr>
          <a:xfrm>
            <a:off x="6037" y="4756806"/>
            <a:ext cx="1637100" cy="1042500"/>
          </a:xfrm>
          <a:prstGeom prst="homePlate">
            <a:avLst>
              <a:gd fmla="val 50000" name="adj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g3490c5b1ff0_0_502"/>
          <p:cNvSpPr/>
          <p:nvPr/>
        </p:nvSpPr>
        <p:spPr>
          <a:xfrm>
            <a:off x="1308657" y="4756461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g3490c5b1ff0_0_502"/>
          <p:cNvSpPr/>
          <p:nvPr/>
        </p:nvSpPr>
        <p:spPr>
          <a:xfrm>
            <a:off x="5797722" y="4756636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D83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g3490c5b1ff0_0_502"/>
          <p:cNvSpPr/>
          <p:nvPr/>
        </p:nvSpPr>
        <p:spPr>
          <a:xfrm>
            <a:off x="4306357" y="4756636"/>
            <a:ext cx="1833900" cy="10425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g3490c5b1ff0_0_502"/>
          <p:cNvSpPr txBox="1"/>
          <p:nvPr/>
        </p:nvSpPr>
        <p:spPr>
          <a:xfrm>
            <a:off x="3300925" y="5065309"/>
            <a:ext cx="1237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Placement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2" name="Google Shape;92;g3490c5b1ff0_0_502"/>
          <p:cNvSpPr txBox="1"/>
          <p:nvPr/>
        </p:nvSpPr>
        <p:spPr>
          <a:xfrm>
            <a:off x="129425" y="5078181"/>
            <a:ext cx="12372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RTL Design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3" name="Google Shape;93;g3490c5b1ff0_0_502"/>
          <p:cNvSpPr txBox="1"/>
          <p:nvPr/>
        </p:nvSpPr>
        <p:spPr>
          <a:xfrm>
            <a:off x="1853425" y="4928331"/>
            <a:ext cx="12372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Logic Synthesis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4" name="Google Shape;94;g3490c5b1ff0_0_502"/>
          <p:cNvSpPr txBox="1"/>
          <p:nvPr/>
        </p:nvSpPr>
        <p:spPr>
          <a:xfrm>
            <a:off x="4843060" y="4974398"/>
            <a:ext cx="1237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Clock Tree Synthesis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5" name="Google Shape;95;g3490c5b1ff0_0_502"/>
          <p:cNvSpPr txBox="1"/>
          <p:nvPr/>
        </p:nvSpPr>
        <p:spPr>
          <a:xfrm>
            <a:off x="6366650" y="5078181"/>
            <a:ext cx="1237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Routing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96" name="Google Shape;96;g3490c5b1ff0_0_502"/>
          <p:cNvSpPr txBox="1"/>
          <p:nvPr/>
        </p:nvSpPr>
        <p:spPr>
          <a:xfrm>
            <a:off x="7780475" y="5078181"/>
            <a:ext cx="1357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GDSII/Tapeout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97" name="Google Shape;97;g3490c5b1ff0_0_502"/>
          <p:cNvSpPr/>
          <p:nvPr/>
        </p:nvSpPr>
        <p:spPr>
          <a:xfrm>
            <a:off x="1571650" y="5871006"/>
            <a:ext cx="6937800" cy="321775"/>
          </a:xfrm>
          <a:custGeom>
            <a:rect b="b" l="l" r="r" t="t"/>
            <a:pathLst>
              <a:path extrusionOk="0" h="12871" w="277512">
                <a:moveTo>
                  <a:pt x="0" y="0"/>
                </a:moveTo>
                <a:lnTo>
                  <a:pt x="0" y="12871"/>
                </a:lnTo>
                <a:lnTo>
                  <a:pt x="276997" y="12871"/>
                </a:lnTo>
                <a:lnTo>
                  <a:pt x="277512" y="2059"/>
                </a:ln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cxnSp>
        <p:nvCxnSpPr>
          <p:cNvPr id="98" name="Google Shape;98;g3490c5b1ff0_0_502"/>
          <p:cNvCxnSpPr/>
          <p:nvPr/>
        </p:nvCxnSpPr>
        <p:spPr>
          <a:xfrm>
            <a:off x="4956900" y="6205650"/>
            <a:ext cx="4800" cy="150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g3490c5b1ff0_0_502"/>
          <p:cNvSpPr txBox="1"/>
          <p:nvPr/>
        </p:nvSpPr>
        <p:spPr>
          <a:xfrm>
            <a:off x="3721050" y="6329175"/>
            <a:ext cx="2476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73763"/>
                </a:solidFill>
              </a:rPr>
              <a:t>OpenROAD/OpenLane</a:t>
            </a:r>
            <a:endParaRPr b="1" sz="1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260a82d96_1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Overview</a:t>
            </a:r>
            <a:endParaRPr/>
          </a:p>
        </p:txBody>
      </p:sp>
      <p:pic>
        <p:nvPicPr>
          <p:cNvPr id="105" name="Google Shape;105;g38260a82d96_1_0" title="Screenshot 2025-09-23 at 12.01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75" y="1852875"/>
            <a:ext cx="7541952" cy="3888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g38260a82d96_1_0"/>
          <p:cNvCxnSpPr>
            <a:endCxn id="107" idx="0"/>
          </p:cNvCxnSpPr>
          <p:nvPr/>
        </p:nvCxnSpPr>
        <p:spPr>
          <a:xfrm flipH="1">
            <a:off x="5274450" y="5470300"/>
            <a:ext cx="3000" cy="5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g38260a82d96_1_0"/>
          <p:cNvCxnSpPr>
            <a:endCxn id="109" idx="0"/>
          </p:cNvCxnSpPr>
          <p:nvPr/>
        </p:nvCxnSpPr>
        <p:spPr>
          <a:xfrm flipH="1">
            <a:off x="3647900" y="5521750"/>
            <a:ext cx="38400" cy="5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g38260a82d96_1_0"/>
          <p:cNvCxnSpPr>
            <a:endCxn id="111" idx="0"/>
          </p:cNvCxnSpPr>
          <p:nvPr/>
        </p:nvCxnSpPr>
        <p:spPr>
          <a:xfrm flipH="1">
            <a:off x="1924925" y="5496250"/>
            <a:ext cx="31500" cy="57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g38260a82d96_1_0"/>
          <p:cNvCxnSpPr>
            <a:endCxn id="113" idx="0"/>
          </p:cNvCxnSpPr>
          <p:nvPr/>
        </p:nvCxnSpPr>
        <p:spPr>
          <a:xfrm>
            <a:off x="6669225" y="5521750"/>
            <a:ext cx="685800" cy="56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g38260a82d96_1_0"/>
          <p:cNvCxnSpPr>
            <a:endCxn id="113" idx="0"/>
          </p:cNvCxnSpPr>
          <p:nvPr/>
        </p:nvCxnSpPr>
        <p:spPr>
          <a:xfrm flipH="1">
            <a:off x="7355025" y="5521750"/>
            <a:ext cx="294900" cy="56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g38260a82d96_1_0"/>
          <p:cNvSpPr txBox="1"/>
          <p:nvPr/>
        </p:nvSpPr>
        <p:spPr>
          <a:xfrm>
            <a:off x="2923100" y="6075550"/>
            <a:ext cx="144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Githin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07" name="Google Shape;107;g38260a82d96_1_0"/>
          <p:cNvSpPr txBox="1"/>
          <p:nvPr/>
        </p:nvSpPr>
        <p:spPr>
          <a:xfrm>
            <a:off x="4549650" y="6011200"/>
            <a:ext cx="144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Talha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11" name="Google Shape;111;g38260a82d96_1_0"/>
          <p:cNvSpPr txBox="1"/>
          <p:nvPr/>
        </p:nvSpPr>
        <p:spPr>
          <a:xfrm>
            <a:off x="1200125" y="6075550"/>
            <a:ext cx="144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Kevin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13" name="Google Shape;113;g38260a82d96_1_0"/>
          <p:cNvSpPr txBox="1"/>
          <p:nvPr/>
        </p:nvSpPr>
        <p:spPr>
          <a:xfrm>
            <a:off x="6417225" y="6090850"/>
            <a:ext cx="187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Giovani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15" name="Google Shape;115;g38260a82d96_1_0"/>
          <p:cNvSpPr/>
          <p:nvPr/>
        </p:nvSpPr>
        <p:spPr>
          <a:xfrm>
            <a:off x="3570250" y="4910250"/>
            <a:ext cx="802500" cy="41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8260a82d96_1_0"/>
          <p:cNvSpPr/>
          <p:nvPr/>
        </p:nvSpPr>
        <p:spPr>
          <a:xfrm>
            <a:off x="1387375" y="3061150"/>
            <a:ext cx="270900" cy="100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17" name="Google Shape;117;g38260a82d96_1_0"/>
          <p:cNvCxnSpPr/>
          <p:nvPr/>
        </p:nvCxnSpPr>
        <p:spPr>
          <a:xfrm>
            <a:off x="1117075" y="3631075"/>
            <a:ext cx="6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g38260a82d96_1_0"/>
          <p:cNvSpPr/>
          <p:nvPr/>
        </p:nvSpPr>
        <p:spPr>
          <a:xfrm>
            <a:off x="3144550" y="3144400"/>
            <a:ext cx="456000" cy="41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g38260a82d96_1_0"/>
          <p:cNvCxnSpPr/>
          <p:nvPr/>
        </p:nvCxnSpPr>
        <p:spPr>
          <a:xfrm flipH="1">
            <a:off x="4651550" y="3778400"/>
            <a:ext cx="1806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0" name="Google Shape;120;g38260a82d96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8430" y="3164730"/>
            <a:ext cx="91500" cy="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8260a82d96_1_0"/>
          <p:cNvSpPr/>
          <p:nvPr/>
        </p:nvSpPr>
        <p:spPr>
          <a:xfrm>
            <a:off x="4651550" y="3388500"/>
            <a:ext cx="490200" cy="35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8260a82d96_1_0"/>
          <p:cNvSpPr/>
          <p:nvPr/>
        </p:nvSpPr>
        <p:spPr>
          <a:xfrm>
            <a:off x="4651550" y="3368625"/>
            <a:ext cx="425100" cy="6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8260a82d96_1_0"/>
          <p:cNvSpPr/>
          <p:nvPr/>
        </p:nvSpPr>
        <p:spPr>
          <a:xfrm>
            <a:off x="4645925" y="3338925"/>
            <a:ext cx="226800" cy="6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g38260a82d96_1_0"/>
          <p:cNvCxnSpPr/>
          <p:nvPr/>
        </p:nvCxnSpPr>
        <p:spPr>
          <a:xfrm flipH="1">
            <a:off x="4651650" y="3359750"/>
            <a:ext cx="453000" cy="344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g38260a82d96_1_0"/>
          <p:cNvCxnSpPr/>
          <p:nvPr/>
        </p:nvCxnSpPr>
        <p:spPr>
          <a:xfrm flipH="1">
            <a:off x="4642325" y="3780500"/>
            <a:ext cx="456600" cy="31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g38260a82d96_1_0"/>
          <p:cNvSpPr/>
          <p:nvPr/>
        </p:nvSpPr>
        <p:spPr>
          <a:xfrm>
            <a:off x="4783250" y="3263325"/>
            <a:ext cx="226800" cy="7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g38260a82d96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7825" y="3990850"/>
            <a:ext cx="123007" cy="7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28" name="Google Shape;128;g38260a82d96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875" y="3606600"/>
            <a:ext cx="118907" cy="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60a82d96_1_7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260a82d96_1_73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429002" y="1739099"/>
            <a:ext cx="8333997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Updated to show progress or slip…highlight differences</a:t>
            </a:r>
            <a:endParaRPr/>
          </a:p>
        </p:txBody>
      </p:sp>
      <p:pic>
        <p:nvPicPr>
          <p:cNvPr descr="&quot;Project timeline chart from Texas A&amp;M Engineering showing integration and execution tasks, color-coded by status: gray for not started, yellow for in progress, green for completed, and red for behind schedule, spanning from January to April 2021.&quot;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819400"/>
            <a:ext cx="7162800" cy="3906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57200" y="1674648"/>
            <a:ext cx="8229600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Update Validation Plan….what has been tested?</a:t>
            </a:r>
            <a:endParaRPr/>
          </a:p>
        </p:txBody>
      </p:sp>
      <p:pic>
        <p:nvPicPr>
          <p:cNvPr descr="&quot;Image shows a detailed engineering test matrix spreadsheet with columns for paragraph number, test name, success criteria, methodology, status (all listed as UNTESTED), and responsible engineers for a variety of system performance and hardware verification tests.&quot;  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19400"/>
            <a:ext cx="8153168" cy="3189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2012-01-20T14:22:33Z</dcterms:created>
  <dc:creator>Samuel Villareal</dc:creator>
</cp:coreProperties>
</file>